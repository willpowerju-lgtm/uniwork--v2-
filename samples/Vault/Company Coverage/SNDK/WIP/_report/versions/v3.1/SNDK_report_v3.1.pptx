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920240"/>
            <a:ext cx="11064240" cy="2011680"/>
          </a:xfrm>
          <a:prstGeom prst="rect">
            <a:avLst/>
          </a:prstGeom>
          <a:noFill/>
        </p:spPr>
        <p:txBody>
          <a:bodyPr wrap="square">
            <a:spAutoFit/>
          </a:bodyPr>
          <a:lstStyle/>
          <a:p>
            <a:r>
              <a:rPr sz="2800" b="1">
                <a:solidFill>
                  <a:srgbClr val="103455"/>
                </a:solidFill>
              </a:rPr>
              <a:t>Sandisk (SNDK): BUY | NAND 超级周期 × NBM 模式重塑——盈利结构性重估尚未被充分定价</a:t>
            </a:r>
          </a:p>
        </p:txBody>
      </p:sp>
      <p:sp>
        <p:nvSpPr>
          <p:cNvPr id="3" name="TextBox 2"/>
          <p:cNvSpPr txBox="1"/>
          <p:nvPr/>
        </p:nvSpPr>
        <p:spPr>
          <a:xfrm>
            <a:off x="548640" y="3931920"/>
            <a:ext cx="11064240" cy="1463040"/>
          </a:xfrm>
          <a:prstGeom prst="rect">
            <a:avLst/>
          </a:prstGeom>
          <a:noFill/>
        </p:spPr>
        <p:txBody>
          <a:bodyPr wrap="square">
            <a:spAutoFit/>
          </a:bodyPr>
          <a:lstStyle/>
          <a:p>
            <a:r>
              <a:rPr sz="1300" b="0"/>
              <a:t>United States | Semiconductors | NAND Flash 存储  ·  June 11, 2026</a:t>
            </a:r>
          </a:p>
          <a:p>
            <a:r>
              <a:rPr sz="1300" b="0"/>
              <a:t>RATING: BUY   PRICE: $1,646.54^   PRICE TARGET: $1,900（OA target，手动上调）   FWD P/E: 9x   52W HIGH-LOW: $39.44-$1,861.00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Investment Thesis</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我们首次覆盖 Sandisk (SNDK) 给予买入评级。核心论点一句话：这不是一轮普通的 NAND 涨价周期，而是「AI 数据中心需求结构性爆发」叠加「NBM 长协模式重塑商业范式」共同驱动的盈利结构性重估，而当前 forward P/E 仅 9x 尚未为后者定价。三大支柱：(1) AI 推理/KVCache 驱动数据中心 NAND 需求，CY26 数据中心 exabyte 增长预期已从 mid-20% 连续上调至 mid-70%+，数据中心首次超越移动成为 NAND 最大市场；(2) 公司已签 5 份 NBM 多年期供给协议（RPO $42B、金融担保 $11B、FY27 超 1/3 比特锁定），把一次性商品销售改造成可见度高的类订阅收入，从根本上削弱周期性；(3) BiCS8 CBA 节点 + Stargate QLC 平台构建企业级 SSD 差异化壁垒，叠加全行业供给纪律与公司零债务、49.7% FCF 利润率。FQ3'26 已全面兑现：营收 US$5,950m、毛利率 78.4%、经营利润率 70.9%、EPS 23.41，均创历史纪录。</a:t>
            </a:r>
          </a:p>
          <a:p>
            <a:r>
              <a:rPr sz="1300"/>
              <a:t>• 核心预期差。</a:t>
            </a:r>
          </a:p>
          <a:p>
            <a:r>
              <a:rPr sz="1100"/>
              <a:t>• 市场仍按纯周期商品股给 SNDK 定价——「NAND 涨价见顶即杀估值」是 forward P/E 压在 9x、盘后一度因 NBM「约束定价灵活性」下跌 5–6% 的根源。这忽略了 NBM 改变收入性质这一结构性变化：5 份合约在签约时即锁定价格与产能（RPO $42B、金融担保 $11B、含第三方金融机构托管的预付款约 $4B 与强制分手费机制），FY27 已有超 1/3 比特、目标 &gt;50% 比特进入长协。周期峰值盈利的一部分被转化为多年可见的合约收入，公司应享有高于纯商…</a:t>
            </a:r>
          </a:p>
          <a:p>
            <a:r>
              <a:rPr sz="1300"/>
              <a:t>• 为什么是现在。</a:t>
            </a:r>
          </a:p>
          <a:p>
            <a:r>
              <a:rPr sz="1100"/>
              <a:t>• 供给侧，全行业处于供给纪律期、无新增洁净室空间（Micron 新加坡新 FAB 要到 CY28 才产出），Kioxia/Samsung/SK Hynix 均维持审慎 CapEx；需求侧，NVIDIA GB200/GB300 参考架构对企业 SSD 的认证 + KVCache 在 2027 年估计 +75–100 EB 的增量需求尚未计入多数分析师模型。供需剪刀差推动 FQ3'26 ASP 环比约 +140%（Bernstein 估计 $0.096→$0.229/bit），Ci…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1. 公司基本情况</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从 WDC 分拆独立、依托 Kioxia JV 掌握全球约 1/3 NAND 产能。</a:t>
            </a:r>
          </a:p>
          <a:p>
            <a:r>
              <a:rPr sz="1100"/>
              <a:t>• Sandisk Corporation（NASDAQ: SNDK）是全球领先的 NAND 闪存存储解决方案公司，2025 年 2 月从 Western Digital 分拆独立上市。公司通过与 Kioxia 的合资企业（合作已延至 2034 年）运营位于日本的 4 个 NAND FAB（四日市 ×3 + 北上 ×1），产出全球约 1/3 的 NAND 比特，并因 JV 共享获得比行业领先约 30% 的 CapEx 效率。收入按终端市场分为 Edge（PC/移动/嵌入式）、Da…</a:t>
            </a:r>
          </a:p>
          <a:p>
            <a:r>
              <a:rPr sz="1100"/>
              <a:t>• 来源：ER/EC FQ3'26（2026-04-30）。占比与环比为披露口径。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1.1 终端市场结构（FQ3'26，按收入占比）</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终端市场</a:t>
                      </a:r>
                    </a:p>
                  </a:txBody>
                  <a:tcPr>
                    <a:solidFill>
                      <a:srgbClr val="103455"/>
                    </a:solidFill>
                  </a:tcPr>
                </a:tc>
                <a:tc>
                  <a:txBody>
                    <a:bodyPr/>
                    <a:lstStyle/>
                    <a:p>
                      <a:r>
                        <a:rPr sz="900" b="1">
                          <a:solidFill>
                            <a:srgbClr val="FFFFFF"/>
                          </a:solidFill>
                        </a:rPr>
                        <a:t>占比</a:t>
                      </a:r>
                    </a:p>
                  </a:txBody>
                  <a:tcPr>
                    <a:solidFill>
                      <a:srgbClr val="103455"/>
                    </a:solidFill>
                  </a:tcPr>
                </a:tc>
                <a:tc>
                  <a:txBody>
                    <a:bodyPr/>
                    <a:lstStyle/>
                    <a:p>
                      <a:r>
                        <a:rPr sz="900" b="1">
                          <a:solidFill>
                            <a:srgbClr val="FFFFFF"/>
                          </a:solidFill>
                        </a:rPr>
                        <a:t>环比</a:t>
                      </a:r>
                    </a:p>
                  </a:txBody>
                  <a:tcPr>
                    <a:solidFill>
                      <a:srgbClr val="103455"/>
                    </a:solidFill>
                  </a:tcPr>
                </a:tc>
                <a:tc>
                  <a:txBody>
                    <a:bodyPr/>
                    <a:lstStyle/>
                    <a:p>
                      <a:r>
                        <a:rPr sz="900" b="1">
                          <a:solidFill>
                            <a:srgbClr val="FFFFFF"/>
                          </a:solidFill>
                        </a:rPr>
                        <a:t>关键产品</a:t>
                      </a:r>
                    </a:p>
                  </a:txBody>
                  <a:tcPr>
                    <a:solidFill>
                      <a:srgbClr val="103455"/>
                    </a:solidFill>
                  </a:tcPr>
                </a:tc>
              </a:tr>
              <a:tr h="274320">
                <a:tc>
                  <a:txBody>
                    <a:bodyPr/>
                    <a:lstStyle/>
                    <a:p>
                      <a:r>
                        <a:rPr sz="900"/>
                        <a:t>Edge（PC/移动/嵌入式）</a:t>
                      </a:r>
                    </a:p>
                  </a:txBody>
                  <a:tcPr/>
                </a:tc>
                <a:tc>
                  <a:txBody>
                    <a:bodyPr/>
                    <a:lstStyle/>
                    <a:p>
                      <a:r>
                        <a:rPr sz="900"/>
                        <a:t>62%</a:t>
                      </a:r>
                    </a:p>
                  </a:txBody>
                  <a:tcPr/>
                </a:tc>
                <a:tc>
                  <a:txBody>
                    <a:bodyPr/>
                    <a:lstStyle/>
                    <a:p>
                      <a:r>
                        <a:rPr sz="900"/>
                        <a:t>+118%</a:t>
                      </a:r>
                    </a:p>
                  </a:txBody>
                  <a:tcPr/>
                </a:tc>
                <a:tc>
                  <a:txBody>
                    <a:bodyPr/>
                    <a:lstStyle/>
                    <a:p>
                      <a:r>
                        <a:rPr sz="900"/>
                        <a:t>客户端 SSD、嵌入式存储</a:t>
                      </a:r>
                    </a:p>
                  </a:txBody>
                  <a:tcPr/>
                </a:tc>
              </a:tr>
              <a:tr h="274320">
                <a:tc>
                  <a:txBody>
                    <a:bodyPr/>
                    <a:lstStyle/>
                    <a:p>
                      <a:r>
                        <a:rPr sz="900"/>
                        <a:t>Datacenter</a:t>
                      </a:r>
                    </a:p>
                  </a:txBody>
                  <a:tcPr/>
                </a:tc>
                <a:tc>
                  <a:txBody>
                    <a:bodyPr/>
                    <a:lstStyle/>
                    <a:p>
                      <a:r>
                        <a:rPr sz="900"/>
                        <a:t>25%</a:t>
                      </a:r>
                    </a:p>
                  </a:txBody>
                  <a:tcPr/>
                </a:tc>
                <a:tc>
                  <a:txBody>
                    <a:bodyPr/>
                    <a:lstStyle/>
                    <a:p>
                      <a:r>
                        <a:rPr sz="900"/>
                        <a:t>+233%</a:t>
                      </a:r>
                    </a:p>
                  </a:txBody>
                  <a:tcPr/>
                </a:tc>
                <a:tc>
                  <a:txBody>
                    <a:bodyPr/>
                    <a:lstStyle/>
                    <a:p>
                      <a:r>
                        <a:rPr sz="900"/>
                        <a:t>企业 SSD（TLC Gen5 + Stargate QLC）</a:t>
                      </a:r>
                    </a:p>
                  </a:txBody>
                  <a:tcPr/>
                </a:tc>
              </a:tr>
              <a:tr h="274320">
                <a:tc>
                  <a:txBody>
                    <a:bodyPr/>
                    <a:lstStyle/>
                    <a:p>
                      <a:r>
                        <a:rPr sz="900"/>
                        <a:t>Consumer</a:t>
                      </a:r>
                    </a:p>
                  </a:txBody>
                  <a:tcPr/>
                </a:tc>
                <a:tc>
                  <a:txBody>
                    <a:bodyPr/>
                    <a:lstStyle/>
                    <a:p>
                      <a:r>
                        <a:rPr sz="900"/>
                        <a:t>13%</a:t>
                      </a:r>
                    </a:p>
                  </a:txBody>
                  <a:tcPr/>
                </a:tc>
                <a:tc>
                  <a:txBody>
                    <a:bodyPr/>
                    <a:lstStyle/>
                    <a:p>
                      <a:r>
                        <a:rPr sz="900"/>
                        <a:t>-10%</a:t>
                      </a:r>
                    </a:p>
                  </a:txBody>
                  <a:tcPr/>
                </a:tc>
                <a:tc>
                  <a:txBody>
                    <a:bodyPr/>
                    <a:lstStyle/>
                    <a:p>
                      <a:r>
                        <a:rPr sz="900"/>
                        <a:t>MicroSD、USB、便携 SSD</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2. 产业链与价值链定位</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NAND 全产业链参与者：晶圆制造 → 裸片/控制器 → 成品 SSD/存储 → 直销+渠道。</a:t>
            </a:r>
          </a:p>
          <a:p>
            <a:r>
              <a:rPr sz="1100"/>
              <a:t>• 公司横跨 NAND 价值链全环节，差异化主要来自两点：上游通过 Kioxia JV 锁定低成本产能（JV 服务费 $11.65B 覆盖 2026–2029，共同 CapEx 效率领先约 30%），中游自研控制器 ASIC（Stargate 平台）与 BiCS8 CBA 节点设计领先。关键外部依赖与合作构成其护城河的一部分：与 NVIDIA 的 GB200/GB300 认证与 KVCache 需求合作、与 SK Hynix 的 HBF 联合 OCP 标准化、向 Nanya 投资…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2.1 价值链环节与 SNDK 角色</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3810000"/>
                <a:gridCol w="3810000"/>
                <a:gridCol w="3810000"/>
              </a:tblGrid>
              <a:tr h="274319">
                <a:tc>
                  <a:txBody>
                    <a:bodyPr/>
                    <a:lstStyle/>
                    <a:p>
                      <a:r>
                        <a:rPr sz="900" b="1">
                          <a:solidFill>
                            <a:srgbClr val="FFFFFF"/>
                          </a:solidFill>
                        </a:rPr>
                        <a:t>环节</a:t>
                      </a:r>
                    </a:p>
                  </a:txBody>
                  <a:tcPr>
                    <a:solidFill>
                      <a:srgbClr val="103455"/>
                    </a:solidFill>
                  </a:tcPr>
                </a:tc>
                <a:tc>
                  <a:txBody>
                    <a:bodyPr/>
                    <a:lstStyle/>
                    <a:p>
                      <a:r>
                        <a:rPr sz="900" b="1">
                          <a:solidFill>
                            <a:srgbClr val="FFFFFF"/>
                          </a:solidFill>
                        </a:rPr>
                        <a:t>主要参与者</a:t>
                      </a:r>
                    </a:p>
                  </a:txBody>
                  <a:tcPr>
                    <a:solidFill>
                      <a:srgbClr val="103455"/>
                    </a:solidFill>
                  </a:tcPr>
                </a:tc>
                <a:tc>
                  <a:txBody>
                    <a:bodyPr/>
                    <a:lstStyle/>
                    <a:p>
                      <a:r>
                        <a:rPr sz="900" b="1">
                          <a:solidFill>
                            <a:srgbClr val="FFFFFF"/>
                          </a:solidFill>
                        </a:rPr>
                        <a:t>SNDK 角色</a:t>
                      </a:r>
                    </a:p>
                  </a:txBody>
                  <a:tcPr>
                    <a:solidFill>
                      <a:srgbClr val="103455"/>
                    </a:solidFill>
                  </a:tcPr>
                </a:tc>
              </a:tr>
              <a:tr h="274319">
                <a:tc>
                  <a:txBody>
                    <a:bodyPr/>
                    <a:lstStyle/>
                    <a:p>
                      <a:r>
                        <a:rPr sz="900"/>
                        <a:t>晶圆制造</a:t>
                      </a:r>
                    </a:p>
                  </a:txBody>
                  <a:tcPr/>
                </a:tc>
                <a:tc>
                  <a:txBody>
                    <a:bodyPr/>
                    <a:lstStyle/>
                    <a:p>
                      <a:r>
                        <a:rPr sz="900"/>
                        <a:t>Kioxia(JV)、Samsung、SK Hynix、Micron、YMTC</a:t>
                      </a:r>
                    </a:p>
                  </a:txBody>
                  <a:tcPr/>
                </a:tc>
                <a:tc>
                  <a:txBody>
                    <a:bodyPr/>
                    <a:lstStyle/>
                    <a:p>
                      <a:r>
                        <a:rPr sz="900"/>
                        <a:t>经 Kioxia JV 运营日本 4 FAB，产出全球约 1/3 NAND 比特</a:t>
                      </a:r>
                    </a:p>
                  </a:txBody>
                  <a:tcPr/>
                </a:tc>
              </a:tr>
              <a:tr h="274319">
                <a:tc>
                  <a:txBody>
                    <a:bodyPr/>
                    <a:lstStyle/>
                    <a:p>
                      <a:r>
                        <a:rPr sz="900"/>
                        <a:t>裸片/控制器设计</a:t>
                      </a:r>
                    </a:p>
                  </a:txBody>
                  <a:tcPr/>
                </a:tc>
                <a:tc>
                  <a:txBody>
                    <a:bodyPr/>
                    <a:lstStyle/>
                    <a:p>
                      <a:r>
                        <a:rPr sz="900"/>
                        <a:t>Sandisk、Samsung、Micron、Silicon Motion、Phison</a:t>
                      </a:r>
                    </a:p>
                  </a:txBody>
                  <a:tcPr/>
                </a:tc>
                <a:tc>
                  <a:txBody>
                    <a:bodyPr/>
                    <a:lstStyle/>
                    <a:p>
                      <a:r>
                        <a:rPr sz="900"/>
                        <a:t>自研控制器 ASIC（Stargate），BiCS8 CBA 节点设计领先</a:t>
                      </a:r>
                    </a:p>
                  </a:txBody>
                  <a:tcPr/>
                </a:tc>
              </a:tr>
              <a:tr h="274319">
                <a:tc>
                  <a:txBody>
                    <a:bodyPr/>
                    <a:lstStyle/>
                    <a:p>
                      <a:r>
                        <a:rPr sz="900"/>
                        <a:t>企业 SSD 成品</a:t>
                      </a:r>
                    </a:p>
                  </a:txBody>
                  <a:tcPr/>
                </a:tc>
                <a:tc>
                  <a:txBody>
                    <a:bodyPr/>
                    <a:lstStyle/>
                    <a:p>
                      <a:r>
                        <a:rPr sz="900"/>
                        <a:t>Sandisk、Samsung、Micron、SK Hynix/Solidigm、Kioxia</a:t>
                      </a:r>
                    </a:p>
                  </a:txBody>
                  <a:tcPr/>
                </a:tc>
                <a:tc>
                  <a:txBody>
                    <a:bodyPr/>
                    <a:lstStyle/>
                    <a:p>
                      <a:r>
                        <a:rPr sz="900"/>
                        <a:t>Gen5 TLC + Stargate QLC（128–512TB），5 家超大规模认证中</a:t>
                      </a:r>
                    </a:p>
                  </a:txBody>
                  <a:tcPr/>
                </a:tc>
              </a:tr>
              <a:tr h="274319">
                <a:tc>
                  <a:txBody>
                    <a:bodyPr/>
                    <a:lstStyle/>
                    <a:p>
                      <a:r>
                        <a:rPr sz="900"/>
                        <a:t>消费级存储</a:t>
                      </a:r>
                    </a:p>
                  </a:txBody>
                  <a:tcPr/>
                </a:tc>
                <a:tc>
                  <a:txBody>
                    <a:bodyPr/>
                    <a:lstStyle/>
                    <a:p>
                      <a:r>
                        <a:rPr sz="900"/>
                        <a:t>Sandisk、Samsung、Kingston、Lexar</a:t>
                      </a:r>
                    </a:p>
                  </a:txBody>
                  <a:tcPr/>
                </a:tc>
                <a:tc>
                  <a:txBody>
                    <a:bodyPr/>
                    <a:lstStyle/>
                    <a:p>
                      <a:r>
                        <a:rPr sz="900"/>
                        <a:t>SanDisk 品牌（73% 知名度），MicroSD/USB/便携 SSD</a:t>
                      </a:r>
                    </a:p>
                  </a:txBody>
                  <a:tcPr/>
                </a:tc>
              </a:tr>
              <a:tr h="274324">
                <a:tc>
                  <a:txBody>
                    <a:bodyPr/>
                    <a:lstStyle/>
                    <a:p>
                      <a:r>
                        <a:rPr sz="900"/>
                        <a:t>DRAM 供应</a:t>
                      </a:r>
                    </a:p>
                  </a:txBody>
                  <a:tcPr/>
                </a:tc>
                <a:tc>
                  <a:txBody>
                    <a:bodyPr/>
                    <a:lstStyle/>
                    <a:p>
                      <a:r>
                        <a:rPr sz="900"/>
                        <a:t>Samsung、SK Hynix、Micron、Nanya</a:t>
                      </a:r>
                    </a:p>
                  </a:txBody>
                  <a:tcPr/>
                </a:tc>
                <a:tc>
                  <a:txBody>
                    <a:bodyPr/>
                    <a:lstStyle/>
                    <a:p>
                      <a:r>
                        <a:rPr sz="900"/>
                        <a:t>投资约 $1B 换取 Nanya 长期 DRAM 优先供应权</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3. 竞争格局与竞争者</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份额第四但企业 SSD 快速提升；NBM 为行业首创、先发优势明显。</a:t>
            </a:r>
          </a:p>
          <a:p>
            <a:r>
              <a:rPr sz="1100"/>
              <a:t>• 按独立后口径（不含 Kioxia 共享产出），SNDK NAND 份额约 12%，位列 Samsung、SK Hynix/Solidigm、Kioxia 之后。但竞争焦点正从「份额」转向「结构」：(1) 行业整体供给纪律，无新增洁净室空间，MU 新加坡 FAB 2028 才产出；(2) BiCS8 CBA 晶圆键合使 2Tb QLC 裸片（行业最大）成为可能，同等 CapEx 下性能/功耗更优；(3) NBM 框架为行业首创，Samsung/SK Hynix 尚未跟进，先发优…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3.1 NAND 市场份额（估算）</a:t>
            </a:r>
          </a:p>
        </p:txBody>
      </p:sp>
      <p:graphicFrame>
        <p:nvGraphicFramePr>
          <p:cNvPr id="3" name="Table 2"/>
          <p:cNvGraphicFramePr>
            <a:graphicFrameLocks noGrp="1"/>
          </p:cNvGraphicFramePr>
          <p:nvPr/>
        </p:nvGraphicFramePr>
        <p:xfrm>
          <a:off x="365760" y="1097280"/>
          <a:ext cx="11430000" cy="192024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公司</a:t>
                      </a:r>
                    </a:p>
                  </a:txBody>
                  <a:tcPr>
                    <a:solidFill>
                      <a:srgbClr val="103455"/>
                    </a:solidFill>
                  </a:tcPr>
                </a:tc>
                <a:tc>
                  <a:txBody>
                    <a:bodyPr/>
                    <a:lstStyle/>
                    <a:p>
                      <a:r>
                        <a:rPr sz="900" b="1">
                          <a:solidFill>
                            <a:srgbClr val="FFFFFF"/>
                          </a:solidFill>
                        </a:rPr>
                        <a:t>份额</a:t>
                      </a:r>
                    </a:p>
                  </a:txBody>
                  <a:tcPr>
                    <a:solidFill>
                      <a:srgbClr val="103455"/>
                    </a:solidFill>
                  </a:tcPr>
                </a:tc>
                <a:tc>
                  <a:txBody>
                    <a:bodyPr/>
                    <a:lstStyle/>
                    <a:p>
                      <a:r>
                        <a:rPr sz="900" b="1">
                          <a:solidFill>
                            <a:srgbClr val="FFFFFF"/>
                          </a:solidFill>
                        </a:rPr>
                        <a:t>备注</a:t>
                      </a:r>
                    </a:p>
                  </a:txBody>
                  <a:tcPr>
                    <a:solidFill>
                      <a:srgbClr val="103455"/>
                    </a:solidFill>
                  </a:tcPr>
                </a:tc>
              </a:tr>
              <a:tr h="274320">
                <a:tc>
                  <a:txBody>
                    <a:bodyPr/>
                    <a:lstStyle/>
                    <a:p>
                      <a:r>
                        <a:rPr sz="900"/>
                        <a:t>Samsung Electronics</a:t>
                      </a:r>
                    </a:p>
                  </a:txBody>
                  <a:tcPr/>
                </a:tc>
                <a:tc>
                  <a:txBody>
                    <a:bodyPr/>
                    <a:lstStyle/>
                    <a:p>
                      <a:r>
                        <a:rPr sz="900"/>
                        <a:t>~28%</a:t>
                      </a:r>
                    </a:p>
                  </a:txBody>
                  <a:tcPr/>
                </a:tc>
                <a:tc>
                  <a:txBody>
                    <a:bodyPr/>
                    <a:lstStyle/>
                    <a:p>
                      <a:r>
                        <a:rPr sz="900"/>
                        <a:t>整体第一，垂直整合（DRAM+NAND+SSD）</a:t>
                      </a:r>
                    </a:p>
                  </a:txBody>
                  <a:tcPr/>
                </a:tc>
              </a:tr>
              <a:tr h="274320">
                <a:tc>
                  <a:txBody>
                    <a:bodyPr/>
                    <a:lstStyle/>
                    <a:p>
                      <a:r>
                        <a:rPr sz="900"/>
                        <a:t>SK Hynix / Solidigm</a:t>
                      </a:r>
                    </a:p>
                  </a:txBody>
                  <a:tcPr/>
                </a:tc>
                <a:tc>
                  <a:txBody>
                    <a:bodyPr/>
                    <a:lstStyle/>
                    <a:p>
                      <a:r>
                        <a:rPr sz="900"/>
                        <a:t>~22%</a:t>
                      </a:r>
                    </a:p>
                  </a:txBody>
                  <a:tcPr/>
                </a:tc>
                <a:tc>
                  <a:txBody>
                    <a:bodyPr/>
                    <a:lstStyle/>
                    <a:p>
                      <a:r>
                        <a:rPr sz="900"/>
                        <a:t>收购 Intel NAND 后第二，HBF 合作伙伴</a:t>
                      </a:r>
                    </a:p>
                  </a:txBody>
                  <a:tcPr/>
                </a:tc>
              </a:tr>
              <a:tr h="274320">
                <a:tc>
                  <a:txBody>
                    <a:bodyPr/>
                    <a:lstStyle/>
                    <a:p>
                      <a:r>
                        <a:rPr sz="900"/>
                        <a:t>Kioxia</a:t>
                      </a:r>
                    </a:p>
                  </a:txBody>
                  <a:tcPr/>
                </a:tc>
                <a:tc>
                  <a:txBody>
                    <a:bodyPr/>
                    <a:lstStyle/>
                    <a:p>
                      <a:r>
                        <a:rPr sz="900"/>
                        <a:t>~16%</a:t>
                      </a:r>
                    </a:p>
                  </a:txBody>
                  <a:tcPr/>
                </a:tc>
                <a:tc>
                  <a:txBody>
                    <a:bodyPr/>
                    <a:lstStyle/>
                    <a:p>
                      <a:r>
                        <a:rPr sz="900"/>
                        <a:t>SNDK JV 伙伴，合计约 28% 产能</a:t>
                      </a:r>
                    </a:p>
                  </a:txBody>
                  <a:tcPr/>
                </a:tc>
              </a:tr>
              <a:tr h="274320">
                <a:tc>
                  <a:txBody>
                    <a:bodyPr/>
                    <a:lstStyle/>
                    <a:p>
                      <a:r>
                        <a:rPr sz="900"/>
                        <a:t>Sandisk (SNDK)</a:t>
                      </a:r>
                    </a:p>
                  </a:txBody>
                  <a:tcPr/>
                </a:tc>
                <a:tc>
                  <a:txBody>
                    <a:bodyPr/>
                    <a:lstStyle/>
                    <a:p>
                      <a:r>
                        <a:rPr sz="900"/>
                        <a:t>~12%</a:t>
                      </a:r>
                    </a:p>
                  </a:txBody>
                  <a:tcPr/>
                </a:tc>
                <a:tc>
                  <a:txBody>
                    <a:bodyPr/>
                    <a:lstStyle/>
                    <a:p>
                      <a:r>
                        <a:rPr sz="900"/>
                        <a:t>独立后口径，企业 SSD 快速提升</a:t>
                      </a:r>
                    </a:p>
                  </a:txBody>
                  <a:tcPr/>
                </a:tc>
              </a:tr>
              <a:tr h="274320">
                <a:tc>
                  <a:txBody>
                    <a:bodyPr/>
                    <a:lstStyle/>
                    <a:p>
                      <a:r>
                        <a:rPr sz="900"/>
                        <a:t>Micron (MU)</a:t>
                      </a:r>
                    </a:p>
                  </a:txBody>
                  <a:tcPr/>
                </a:tc>
                <a:tc>
                  <a:txBody>
                    <a:bodyPr/>
                    <a:lstStyle/>
                    <a:p>
                      <a:r>
                        <a:rPr sz="900"/>
                        <a:t>~11%</a:t>
                      </a:r>
                    </a:p>
                  </a:txBody>
                  <a:tcPr/>
                </a:tc>
                <a:tc>
                  <a:txBody>
                    <a:bodyPr/>
                    <a:lstStyle/>
                    <a:p>
                      <a:r>
                        <a:rPr sz="900"/>
                        <a:t>新加坡新 FAB（CY28 产出），NAND+DRAM 双线</a:t>
                      </a:r>
                    </a:p>
                  </a:txBody>
                  <a:tcPr/>
                </a:tc>
              </a:tr>
              <a:tr h="274320">
                <a:tc>
                  <a:txBody>
                    <a:bodyPr/>
                    <a:lstStyle/>
                    <a:p>
                      <a:r>
                        <a:rPr sz="900"/>
                        <a:t>YMTC（长江存储）</a:t>
                      </a:r>
                    </a:p>
                  </a:txBody>
                  <a:tcPr/>
                </a:tc>
                <a:tc>
                  <a:txBody>
                    <a:bodyPr/>
                    <a:lstStyle/>
                    <a:p>
                      <a:r>
                        <a:rPr sz="900"/>
                        <a:t>~8-10%</a:t>
                      </a:r>
                    </a:p>
                  </a:txBody>
                  <a:tcPr/>
                </a:tc>
                <a:tc>
                  <a:txBody>
                    <a:bodyPr/>
                    <a:lstStyle/>
                    <a:p>
                      <a:r>
                        <a:rPr sz="900"/>
                        <a:t>受 Entity List 限制，集中消费级</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4. 技术路线与 Competitive Edge</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护城河四支柱：BiCS8 CBA 成本节点 + Stargate QLC 差异化 + NBM 模式 + HBF 超周期期权。</a:t>
            </a:r>
          </a:p>
          <a:p>
            <a:r>
              <a:rPr sz="1100"/>
              <a:t>• 当前主力节点 BiCS8 CBA（162 层级、CMOS 晶圆键合）FQ3'26 占比 &gt;50%，2Tb QLC 裸片为行业最大；Stargate 平台（128/256/512TB NVMe 企业 SSD）FQ4'26 开始创收，已 2 家超大规模认证、3 家计划 CY26；SN670 Gen5 TLC 已通过 NVIDIA GB200/GB300 认证并在多家超大规模出货，是数据中心 +233% 的主驱动。更长维度，HBF（高带宽闪存）裸片已在生产、系统级产品 2027 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4.1 技术路线图</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857500"/>
                <a:gridCol w="2857500"/>
                <a:gridCol w="2857500"/>
                <a:gridCol w="2857500"/>
              </a:tblGrid>
              <a:tr h="274319">
                <a:tc>
                  <a:txBody>
                    <a:bodyPr/>
                    <a:lstStyle/>
                    <a:p>
                      <a:r>
                        <a:rPr sz="900" b="1">
                          <a:solidFill>
                            <a:srgbClr val="FFFFFF"/>
                          </a:solidFill>
                        </a:rPr>
                        <a:t>节点/产品</a:t>
                      </a:r>
                    </a:p>
                  </a:txBody>
                  <a:tcPr>
                    <a:solidFill>
                      <a:srgbClr val="103455"/>
                    </a:solidFill>
                  </a:tcPr>
                </a:tc>
                <a:tc>
                  <a:txBody>
                    <a:bodyPr/>
                    <a:lstStyle/>
                    <a:p>
                      <a:r>
                        <a:rPr sz="900" b="1">
                          <a:solidFill>
                            <a:srgbClr val="FFFFFF"/>
                          </a:solidFill>
                        </a:rPr>
                        <a:t>状态</a:t>
                      </a:r>
                    </a:p>
                  </a:txBody>
                  <a:tcPr>
                    <a:solidFill>
                      <a:srgbClr val="103455"/>
                    </a:solidFill>
                  </a:tcPr>
                </a:tc>
                <a:tc>
                  <a:txBody>
                    <a:bodyPr/>
                    <a:lstStyle/>
                    <a:p>
                      <a:r>
                        <a:rPr sz="900" b="1">
                          <a:solidFill>
                            <a:srgbClr val="FFFFFF"/>
                          </a:solidFill>
                        </a:rPr>
                        <a:t>规格</a:t>
                      </a:r>
                    </a:p>
                  </a:txBody>
                  <a:tcPr>
                    <a:solidFill>
                      <a:srgbClr val="103455"/>
                    </a:solidFill>
                  </a:tcPr>
                </a:tc>
                <a:tc>
                  <a:txBody>
                    <a:bodyPr/>
                    <a:lstStyle/>
                    <a:p>
                      <a:r>
                        <a:rPr sz="900" b="1">
                          <a:solidFill>
                            <a:srgbClr val="FFFFFF"/>
                          </a:solidFill>
                        </a:rPr>
                        <a:t>时间线</a:t>
                      </a:r>
                    </a:p>
                  </a:txBody>
                  <a:tcPr>
                    <a:solidFill>
                      <a:srgbClr val="103455"/>
                    </a:solidFill>
                  </a:tcPr>
                </a:tc>
              </a:tr>
              <a:tr h="274319">
                <a:tc>
                  <a:txBody>
                    <a:bodyPr/>
                    <a:lstStyle/>
                    <a:p>
                      <a:r>
                        <a:rPr sz="900"/>
                        <a:t>BiCS8 CBA</a:t>
                      </a:r>
                    </a:p>
                  </a:txBody>
                  <a:tcPr/>
                </a:tc>
                <a:tc>
                  <a:txBody>
                    <a:bodyPr/>
                    <a:lstStyle/>
                    <a:p>
                      <a:r>
                        <a:rPr sz="900"/>
                        <a:t>量产主力</a:t>
                      </a:r>
                    </a:p>
                  </a:txBody>
                  <a:tcPr/>
                </a:tc>
                <a:tc>
                  <a:txBody>
                    <a:bodyPr/>
                    <a:lstStyle/>
                    <a:p>
                      <a:r>
                        <a:rPr sz="900"/>
                        <a:t>162L、2Tb QLC 裸片（行业最大）</a:t>
                      </a:r>
                    </a:p>
                  </a:txBody>
                  <a:tcPr/>
                </a:tc>
                <a:tc>
                  <a:txBody>
                    <a:bodyPr/>
                    <a:lstStyle/>
                    <a:p>
                      <a:r>
                        <a:rPr sz="900"/>
                        <a:t>FQ3'26 占比 &gt;50%</a:t>
                      </a:r>
                    </a:p>
                  </a:txBody>
                  <a:tcPr/>
                </a:tc>
              </a:tr>
              <a:tr h="274319">
                <a:tc>
                  <a:txBody>
                    <a:bodyPr/>
                    <a:lstStyle/>
                    <a:p>
                      <a:r>
                        <a:rPr sz="900"/>
                        <a:t>Stargate 平台</a:t>
                      </a:r>
                    </a:p>
                  </a:txBody>
                  <a:tcPr/>
                </a:tc>
                <a:tc>
                  <a:txBody>
                    <a:bodyPr/>
                    <a:lstStyle/>
                    <a:p>
                      <a:r>
                        <a:rPr sz="900"/>
                        <a:t>客户认证中</a:t>
                      </a:r>
                    </a:p>
                  </a:txBody>
                  <a:tcPr/>
                </a:tc>
                <a:tc>
                  <a:txBody>
                    <a:bodyPr/>
                    <a:lstStyle/>
                    <a:p>
                      <a:r>
                        <a:rPr sz="900"/>
                        <a:t>BiCS8 QLC，128/256/512TB NVMe</a:t>
                      </a:r>
                    </a:p>
                  </a:txBody>
                  <a:tcPr/>
                </a:tc>
                <a:tc>
                  <a:txBody>
                    <a:bodyPr/>
                    <a:lstStyle/>
                    <a:p>
                      <a:r>
                        <a:rPr sz="900"/>
                        <a:t>FQ4'26 开始创收</a:t>
                      </a:r>
                    </a:p>
                  </a:txBody>
                  <a:tcPr/>
                </a:tc>
              </a:tr>
              <a:tr h="274319">
                <a:tc>
                  <a:txBody>
                    <a:bodyPr/>
                    <a:lstStyle/>
                    <a:p>
                      <a:r>
                        <a:rPr sz="900"/>
                        <a:t>SN670 Gen5 TLC</a:t>
                      </a:r>
                    </a:p>
                  </a:txBody>
                  <a:tcPr/>
                </a:tc>
                <a:tc>
                  <a:txBody>
                    <a:bodyPr/>
                    <a:lstStyle/>
                    <a:p>
                      <a:r>
                        <a:rPr sz="900"/>
                        <a:t>量产</a:t>
                      </a:r>
                    </a:p>
                  </a:txBody>
                  <a:tcPr/>
                </a:tc>
                <a:tc>
                  <a:txBody>
                    <a:bodyPr/>
                    <a:lstStyle/>
                    <a:p>
                      <a:r>
                        <a:rPr sz="900"/>
                        <a:t>PCIe Gen5，NVIDIA GB200/GB300 认证</a:t>
                      </a:r>
                    </a:p>
                  </a:txBody>
                  <a:tcPr/>
                </a:tc>
                <a:tc>
                  <a:txBody>
                    <a:bodyPr/>
                    <a:lstStyle/>
                    <a:p>
                      <a:r>
                        <a:rPr sz="900"/>
                        <a:t>已多家超大规模出货</a:t>
                      </a:r>
                    </a:p>
                  </a:txBody>
                  <a:tcPr/>
                </a:tc>
              </a:tr>
              <a:tr h="274319">
                <a:tc>
                  <a:txBody>
                    <a:bodyPr/>
                    <a:lstStyle/>
                    <a:p>
                      <a:r>
                        <a:rPr sz="900"/>
                        <a:t>HBF 高带宽闪存</a:t>
                      </a:r>
                    </a:p>
                  </a:txBody>
                  <a:tcPr/>
                </a:tc>
                <a:tc>
                  <a:txBody>
                    <a:bodyPr/>
                    <a:lstStyle/>
                    <a:p>
                      <a:r>
                        <a:rPr sz="900"/>
                        <a:t>裸片生产中</a:t>
                      </a:r>
                    </a:p>
                  </a:txBody>
                  <a:tcPr/>
                </a:tc>
                <a:tc>
                  <a:txBody>
                    <a:bodyPr/>
                    <a:lstStyle/>
                    <a:p>
                      <a:r>
                        <a:rPr sz="900"/>
                        <a:t>匹配 HBM 带宽、8–16x 容量</a:t>
                      </a:r>
                    </a:p>
                  </a:txBody>
                  <a:tcPr/>
                </a:tc>
                <a:tc>
                  <a:txBody>
                    <a:bodyPr/>
                    <a:lstStyle/>
                    <a:p>
                      <a:r>
                        <a:rPr sz="900"/>
                        <a:t>系统级 2027 年</a:t>
                      </a:r>
                    </a:p>
                  </a:txBody>
                  <a:tcPr/>
                </a:tc>
              </a:tr>
              <a:tr h="274324">
                <a:tc>
                  <a:txBody>
                    <a:bodyPr/>
                    <a:lstStyle/>
                    <a:p>
                      <a:r>
                        <a:rPr sz="900"/>
                        <a:t>3D Matrix Memory</a:t>
                      </a:r>
                    </a:p>
                  </a:txBody>
                  <a:tcPr/>
                </a:tc>
                <a:tc>
                  <a:txBody>
                    <a:bodyPr/>
                    <a:lstStyle/>
                    <a:p>
                      <a:r>
                        <a:rPr sz="900"/>
                        <a:t>研发</a:t>
                      </a:r>
                    </a:p>
                  </a:txBody>
                  <a:tcPr/>
                </a:tc>
                <a:tc>
                  <a:txBody>
                    <a:bodyPr/>
                    <a:lstStyle/>
                    <a:p>
                      <a:r>
                        <a:rPr sz="900"/>
                        <a:t>DRAM 性能/4x 容量/半价（IMEC）</a:t>
                      </a:r>
                    </a:p>
                  </a:txBody>
                  <a:tcPr/>
                </a:tc>
                <a:tc>
                  <a:txBody>
                    <a:bodyPr/>
                    <a:lstStyle/>
                    <a:p>
                      <a:r>
                        <a:rPr sz="900"/>
                        <a:t>未公布（期权）</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5. 核心财务表与未来预测（与 Excel 模型对齐）</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利润桥：规模效应 + ASP 上行主导，而非一次性成本削减。</a:t>
            </a:r>
          </a:p>
          <a:p>
            <a:r>
              <a:rPr sz="1100"/>
              <a:t>• 从 FQ2'26 到 FQ3'26，营收由 US$3,025m 升至 US$5,950m，毛利率由 51.1% 跃升至 78.4%、经营利润率达 70.9%，Non-GAAP EPS 由 6.20 升至 23.41。驱动来自 ASP 环比约 +140% 与营业杠杆（OpEx 仅占收入 7.5%，远低于 Analyst Day 15% 目标），且 FAB 启动成本已归零。我们预测 FY27 营收 US$44,164m、Non-GAAP EPS $200.47，盈利改善由 ASP…</a:t>
            </a:r>
          </a:p>
          <a:p>
            <a:r>
              <a:rPr sz="1100"/>
              <a:t>• 口径：Non-GAAP（排除 SBC/一次性项目）。来源：OA model [Sandisk_Corp_SNDK_O_Model_Change.xlsx]。所有数值经 registry 占位符绑定到模型单元格，FY25 部分净利项模型未给（标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5.1 季度核心利润表（US$m，Non-GAAP；E=预测，与 IS Flash 对齐）</a:t>
            </a:r>
          </a:p>
        </p:txBody>
      </p:sp>
      <p:graphicFrame>
        <p:nvGraphicFramePr>
          <p:cNvPr id="3" name="Table 2"/>
          <p:cNvGraphicFramePr>
            <a:graphicFrameLocks noGrp="1"/>
          </p:cNvGraphicFramePr>
          <p:nvPr/>
        </p:nvGraphicFramePr>
        <p:xfrm>
          <a:off x="365760" y="1097280"/>
          <a:ext cx="11430000" cy="4114800"/>
        </p:xfrm>
        <a:graphic>
          <a:graphicData uri="http://schemas.openxmlformats.org/drawingml/2006/table">
            <a:tbl>
              <a:tblPr firstRow="1" bandRow="1">
                <a:tableStyleId>{5C22544A-7EE6-4342-B048-85BDC9FD1C3A}</a:tableStyleId>
              </a:tblPr>
              <a:tblGrid>
                <a:gridCol w="1270000"/>
                <a:gridCol w="1270000"/>
                <a:gridCol w="1270000"/>
                <a:gridCol w="1270000"/>
                <a:gridCol w="1270000"/>
                <a:gridCol w="1270000"/>
                <a:gridCol w="1270000"/>
                <a:gridCol w="1270000"/>
                <a:gridCol w="1270000"/>
              </a:tblGrid>
              <a:tr h="274320">
                <a:tc>
                  <a:txBody>
                    <a:bodyPr/>
                    <a:lstStyle/>
                    <a:p>
                      <a:r>
                        <a:rPr sz="900" b="1">
                          <a:solidFill>
                            <a:srgbClr val="FFFFFF"/>
                          </a:solidFill>
                        </a:rPr>
                        <a:t>指标</a:t>
                      </a:r>
                    </a:p>
                  </a:txBody>
                  <a:tcPr>
                    <a:solidFill>
                      <a:srgbClr val="103455"/>
                    </a:solidFill>
                  </a:tcPr>
                </a:tc>
                <a:tc>
                  <a:txBody>
                    <a:bodyPr/>
                    <a:lstStyle/>
                    <a:p>
                      <a:r>
                        <a:rPr sz="900" b="1">
                          <a:solidFill>
                            <a:srgbClr val="FFFFFF"/>
                          </a:solidFill>
                        </a:rPr>
                        <a:t>26Q1</a:t>
                      </a:r>
                    </a:p>
                  </a:txBody>
                  <a:tcPr>
                    <a:solidFill>
                      <a:srgbClr val="103455"/>
                    </a:solidFill>
                  </a:tcPr>
                </a:tc>
                <a:tc>
                  <a:txBody>
                    <a:bodyPr/>
                    <a:lstStyle/>
                    <a:p>
                      <a:r>
                        <a:rPr sz="900" b="1">
                          <a:solidFill>
                            <a:srgbClr val="FFFFFF"/>
                          </a:solidFill>
                        </a:rPr>
                        <a:t>26Q2</a:t>
                      </a:r>
                    </a:p>
                  </a:txBody>
                  <a:tcPr>
                    <a:solidFill>
                      <a:srgbClr val="103455"/>
                    </a:solidFill>
                  </a:tcPr>
                </a:tc>
                <a:tc>
                  <a:txBody>
                    <a:bodyPr/>
                    <a:lstStyle/>
                    <a:p>
                      <a:r>
                        <a:rPr sz="900" b="1">
                          <a:solidFill>
                            <a:srgbClr val="FFFFFF"/>
                          </a:solidFill>
                        </a:rPr>
                        <a:t>26Q3</a:t>
                      </a:r>
                    </a:p>
                  </a:txBody>
                  <a:tcPr>
                    <a:solidFill>
                      <a:srgbClr val="103455"/>
                    </a:solidFill>
                  </a:tcPr>
                </a:tc>
                <a:tc>
                  <a:txBody>
                    <a:bodyPr/>
                    <a:lstStyle/>
                    <a:p>
                      <a:r>
                        <a:rPr sz="900" b="1">
                          <a:solidFill>
                            <a:srgbClr val="FFFFFF"/>
                          </a:solidFill>
                        </a:rPr>
                        <a:t>26Q4E</a:t>
                      </a:r>
                    </a:p>
                  </a:txBody>
                  <a:tcPr>
                    <a:solidFill>
                      <a:srgbClr val="103455"/>
                    </a:solidFill>
                  </a:tcPr>
                </a:tc>
                <a:tc>
                  <a:txBody>
                    <a:bodyPr/>
                    <a:lstStyle/>
                    <a:p>
                      <a:r>
                        <a:rPr sz="900" b="1">
                          <a:solidFill>
                            <a:srgbClr val="FFFFFF"/>
                          </a:solidFill>
                        </a:rPr>
                        <a:t>27Q1E</a:t>
                      </a:r>
                    </a:p>
                  </a:txBody>
                  <a:tcPr>
                    <a:solidFill>
                      <a:srgbClr val="103455"/>
                    </a:solidFill>
                  </a:tcPr>
                </a:tc>
                <a:tc>
                  <a:txBody>
                    <a:bodyPr/>
                    <a:lstStyle/>
                    <a:p>
                      <a:r>
                        <a:rPr sz="900" b="1">
                          <a:solidFill>
                            <a:srgbClr val="FFFFFF"/>
                          </a:solidFill>
                        </a:rPr>
                        <a:t>27Q2E</a:t>
                      </a:r>
                    </a:p>
                  </a:txBody>
                  <a:tcPr>
                    <a:solidFill>
                      <a:srgbClr val="103455"/>
                    </a:solidFill>
                  </a:tcPr>
                </a:tc>
                <a:tc>
                  <a:txBody>
                    <a:bodyPr/>
                    <a:lstStyle/>
                    <a:p>
                      <a:r>
                        <a:rPr sz="900" b="1">
                          <a:solidFill>
                            <a:srgbClr val="FFFFFF"/>
                          </a:solidFill>
                        </a:rPr>
                        <a:t>27Q3E</a:t>
                      </a:r>
                    </a:p>
                  </a:txBody>
                  <a:tcPr>
                    <a:solidFill>
                      <a:srgbClr val="103455"/>
                    </a:solidFill>
                  </a:tcPr>
                </a:tc>
                <a:tc>
                  <a:txBody>
                    <a:bodyPr/>
                    <a:lstStyle/>
                    <a:p>
                      <a:r>
                        <a:rPr sz="900" b="1">
                          <a:solidFill>
                            <a:srgbClr val="FFFFFF"/>
                          </a:solidFill>
                        </a:rPr>
                        <a:t>27Q4E</a:t>
                      </a:r>
                    </a:p>
                  </a:txBody>
                  <a:tcPr>
                    <a:solidFill>
                      <a:srgbClr val="103455"/>
                    </a:solidFill>
                  </a:tcPr>
                </a:tc>
              </a:tr>
              <a:tr h="274320">
                <a:tc>
                  <a:txBody>
                    <a:bodyPr/>
                    <a:lstStyle/>
                    <a:p>
                      <a:r>
                        <a:rPr sz="900"/>
                        <a:t>营收</a:t>
                      </a:r>
                    </a:p>
                  </a:txBody>
                  <a:tcPr/>
                </a:tc>
                <a:tc>
                  <a:txBody>
                    <a:bodyPr/>
                    <a:lstStyle/>
                    <a:p>
                      <a:r>
                        <a:rPr sz="900"/>
                        <a:t>2,308</a:t>
                      </a:r>
                    </a:p>
                  </a:txBody>
                  <a:tcPr/>
                </a:tc>
                <a:tc>
                  <a:txBody>
                    <a:bodyPr/>
                    <a:lstStyle/>
                    <a:p>
                      <a:r>
                        <a:rPr sz="900"/>
                        <a:t>3,025</a:t>
                      </a:r>
                    </a:p>
                  </a:txBody>
                  <a:tcPr/>
                </a:tc>
                <a:tc>
                  <a:txBody>
                    <a:bodyPr/>
                    <a:lstStyle/>
                    <a:p>
                      <a:r>
                        <a:rPr sz="900"/>
                        <a:t>5,950</a:t>
                      </a:r>
                    </a:p>
                  </a:txBody>
                  <a:tcPr/>
                </a:tc>
                <a:tc>
                  <a:txBody>
                    <a:bodyPr/>
                    <a:lstStyle/>
                    <a:p>
                      <a:r>
                        <a:rPr sz="900"/>
                        <a:t>8,895.25</a:t>
                      </a:r>
                    </a:p>
                  </a:txBody>
                  <a:tcPr/>
                </a:tc>
                <a:tc>
                  <a:txBody>
                    <a:bodyPr/>
                    <a:lstStyle/>
                    <a:p>
                      <a:r>
                        <a:rPr sz="900"/>
                        <a:t>12,275.44</a:t>
                      </a:r>
                    </a:p>
                  </a:txBody>
                  <a:tcPr/>
                </a:tc>
                <a:tc>
                  <a:txBody>
                    <a:bodyPr/>
                    <a:lstStyle/>
                    <a:p>
                      <a:r>
                        <a:rPr sz="900"/>
                        <a:t>15,679.92</a:t>
                      </a:r>
                    </a:p>
                  </a:txBody>
                  <a:tcPr/>
                </a:tc>
                <a:tc>
                  <a:txBody>
                    <a:bodyPr/>
                    <a:lstStyle/>
                    <a:p>
                      <a:r>
                        <a:rPr sz="900"/>
                        <a:t>11,916.74</a:t>
                      </a:r>
                    </a:p>
                  </a:txBody>
                  <a:tcPr/>
                </a:tc>
                <a:tc>
                  <a:txBody>
                    <a:bodyPr/>
                    <a:lstStyle/>
                    <a:p>
                      <a:r>
                        <a:rPr sz="900"/>
                        <a:t>12,137.20</a:t>
                      </a:r>
                    </a:p>
                  </a:txBody>
                  <a:tcPr/>
                </a:tc>
              </a:tr>
              <a:tr h="274320">
                <a:tc>
                  <a:txBody>
                    <a:bodyPr/>
                    <a:lstStyle/>
                    <a:p>
                      <a:r>
                        <a:rPr sz="900"/>
                        <a:t>营业成本 COGS</a:t>
                      </a:r>
                    </a:p>
                  </a:txBody>
                  <a:tcPr/>
                </a:tc>
                <a:tc>
                  <a:txBody>
                    <a:bodyPr/>
                    <a:lstStyle/>
                    <a:p>
                      <a:r>
                        <a:rPr sz="900"/>
                        <a:t>1,617</a:t>
                      </a:r>
                    </a:p>
                  </a:txBody>
                  <a:tcPr/>
                </a:tc>
                <a:tc>
                  <a:txBody>
                    <a:bodyPr/>
                    <a:lstStyle/>
                    <a:p>
                      <a:r>
                        <a:rPr sz="900"/>
                        <a:t>1,479</a:t>
                      </a:r>
                    </a:p>
                  </a:txBody>
                  <a:tcPr/>
                </a:tc>
                <a:tc>
                  <a:txBody>
                    <a:bodyPr/>
                    <a:lstStyle/>
                    <a:p>
                      <a:r>
                        <a:rPr sz="900"/>
                        <a:t>1,284</a:t>
                      </a:r>
                    </a:p>
                  </a:txBody>
                  <a:tcPr/>
                </a:tc>
                <a:tc>
                  <a:txBody>
                    <a:bodyPr/>
                    <a:lstStyle/>
                    <a:p>
                      <a:r>
                        <a:rPr sz="900"/>
                        <a:t>1,779.05</a:t>
                      </a:r>
                    </a:p>
                  </a:txBody>
                  <a:tcPr/>
                </a:tc>
                <a:tc>
                  <a:txBody>
                    <a:bodyPr/>
                    <a:lstStyle/>
                    <a:p>
                      <a:r>
                        <a:rPr sz="900"/>
                        <a:t>2,209.58</a:t>
                      </a:r>
                    </a:p>
                  </a:txBody>
                  <a:tcPr/>
                </a:tc>
                <a:tc>
                  <a:txBody>
                    <a:bodyPr/>
                    <a:lstStyle/>
                    <a:p>
                      <a:r>
                        <a:rPr sz="900"/>
                        <a:t>2,822.39</a:t>
                      </a:r>
                    </a:p>
                  </a:txBody>
                  <a:tcPr/>
                </a:tc>
                <a:tc>
                  <a:txBody>
                    <a:bodyPr/>
                    <a:lstStyle/>
                    <a:p>
                      <a:r>
                        <a:rPr sz="900"/>
                        <a:t>2,204.60</a:t>
                      </a:r>
                    </a:p>
                  </a:txBody>
                  <a:tcPr/>
                </a:tc>
                <a:tc>
                  <a:txBody>
                    <a:bodyPr/>
                    <a:lstStyle/>
                    <a:p>
                      <a:r>
                        <a:rPr sz="900"/>
                        <a:t>2,245.38</a:t>
                      </a:r>
                    </a:p>
                  </a:txBody>
                  <a:tcPr/>
                </a:tc>
              </a:tr>
              <a:tr h="274320">
                <a:tc>
                  <a:txBody>
                    <a:bodyPr/>
                    <a:lstStyle/>
                    <a:p>
                      <a:r>
                        <a:rPr sz="900"/>
                        <a:t>毛利</a:t>
                      </a:r>
                    </a:p>
                  </a:txBody>
                  <a:tcPr/>
                </a:tc>
                <a:tc>
                  <a:txBody>
                    <a:bodyPr/>
                    <a:lstStyle/>
                    <a:p>
                      <a:r>
                        <a:rPr sz="900"/>
                        <a:t>691</a:t>
                      </a:r>
                    </a:p>
                  </a:txBody>
                  <a:tcPr/>
                </a:tc>
                <a:tc>
                  <a:txBody>
                    <a:bodyPr/>
                    <a:lstStyle/>
                    <a:p>
                      <a:r>
                        <a:rPr sz="900"/>
                        <a:t>1,546</a:t>
                      </a:r>
                    </a:p>
                  </a:txBody>
                  <a:tcPr/>
                </a:tc>
                <a:tc>
                  <a:txBody>
                    <a:bodyPr/>
                    <a:lstStyle/>
                    <a:p>
                      <a:r>
                        <a:rPr sz="900"/>
                        <a:t>4,666</a:t>
                      </a:r>
                    </a:p>
                  </a:txBody>
                  <a:tcPr/>
                </a:tc>
                <a:tc>
                  <a:txBody>
                    <a:bodyPr/>
                    <a:lstStyle/>
                    <a:p>
                      <a:r>
                        <a:rPr sz="900"/>
                        <a:t>7,116.20</a:t>
                      </a:r>
                    </a:p>
                  </a:txBody>
                  <a:tcPr/>
                </a:tc>
                <a:tc>
                  <a:txBody>
                    <a:bodyPr/>
                    <a:lstStyle/>
                    <a:p>
                      <a:r>
                        <a:rPr sz="900"/>
                        <a:t>10,065.86</a:t>
                      </a:r>
                    </a:p>
                  </a:txBody>
                  <a:tcPr/>
                </a:tc>
                <a:tc>
                  <a:txBody>
                    <a:bodyPr/>
                    <a:lstStyle/>
                    <a:p>
                      <a:r>
                        <a:rPr sz="900"/>
                        <a:t>12,857.53</a:t>
                      </a:r>
                    </a:p>
                  </a:txBody>
                  <a:tcPr/>
                </a:tc>
                <a:tc>
                  <a:txBody>
                    <a:bodyPr/>
                    <a:lstStyle/>
                    <a:p>
                      <a:r>
                        <a:rPr sz="900"/>
                        <a:t>9,712.14</a:t>
                      </a:r>
                    </a:p>
                  </a:txBody>
                  <a:tcPr/>
                </a:tc>
                <a:tc>
                  <a:txBody>
                    <a:bodyPr/>
                    <a:lstStyle/>
                    <a:p>
                      <a:r>
                        <a:rPr sz="900"/>
                        <a:t>9,891.82</a:t>
                      </a:r>
                    </a:p>
                  </a:txBody>
                  <a:tcPr/>
                </a:tc>
              </a:tr>
              <a:tr h="274320">
                <a:tc>
                  <a:txBody>
                    <a:bodyPr/>
                    <a:lstStyle/>
                    <a:p>
                      <a:r>
                        <a:rPr sz="900"/>
                        <a:t>毛利率</a:t>
                      </a:r>
                    </a:p>
                  </a:txBody>
                  <a:tcPr/>
                </a:tc>
                <a:tc>
                  <a:txBody>
                    <a:bodyPr/>
                    <a:lstStyle/>
                    <a:p>
                      <a:r>
                        <a:rPr sz="900"/>
                        <a:t>29.9%</a:t>
                      </a:r>
                    </a:p>
                  </a:txBody>
                  <a:tcPr/>
                </a:tc>
                <a:tc>
                  <a:txBody>
                    <a:bodyPr/>
                    <a:lstStyle/>
                    <a:p>
                      <a:r>
                        <a:rPr sz="900"/>
                        <a:t>51.1%</a:t>
                      </a:r>
                    </a:p>
                  </a:txBody>
                  <a:tcPr/>
                </a:tc>
                <a:tc>
                  <a:txBody>
                    <a:bodyPr/>
                    <a:lstStyle/>
                    <a:p>
                      <a:r>
                        <a:rPr sz="900"/>
                        <a:t>78.4%</a:t>
                      </a:r>
                    </a:p>
                  </a:txBody>
                  <a:tcPr/>
                </a:tc>
                <a:tc>
                  <a:txBody>
                    <a:bodyPr/>
                    <a:lstStyle/>
                    <a:p>
                      <a:r>
                        <a:rPr sz="900"/>
                        <a:t>80.0%</a:t>
                      </a:r>
                    </a:p>
                  </a:txBody>
                  <a:tcPr/>
                </a:tc>
                <a:tc>
                  <a:txBody>
                    <a:bodyPr/>
                    <a:lstStyle/>
                    <a:p>
                      <a:r>
                        <a:rPr sz="900"/>
                        <a:t>82.0%</a:t>
                      </a:r>
                    </a:p>
                  </a:txBody>
                  <a:tcPr/>
                </a:tc>
                <a:tc>
                  <a:txBody>
                    <a:bodyPr/>
                    <a:lstStyle/>
                    <a:p>
                      <a:r>
                        <a:rPr sz="900"/>
                        <a:t>82.0%</a:t>
                      </a:r>
                    </a:p>
                  </a:txBody>
                  <a:tcPr/>
                </a:tc>
                <a:tc>
                  <a:txBody>
                    <a:bodyPr/>
                    <a:lstStyle/>
                    <a:p>
                      <a:r>
                        <a:rPr sz="900"/>
                        <a:t>81.5%</a:t>
                      </a:r>
                    </a:p>
                  </a:txBody>
                  <a:tcPr/>
                </a:tc>
                <a:tc>
                  <a:txBody>
                    <a:bodyPr/>
                    <a:lstStyle/>
                    <a:p>
                      <a:r>
                        <a:rPr sz="900"/>
                        <a:t>81.5%</a:t>
                      </a:r>
                    </a:p>
                  </a:txBody>
                  <a:tcPr/>
                </a:tc>
              </a:tr>
              <a:tr h="274320">
                <a:tc>
                  <a:txBody>
                    <a:bodyPr/>
                    <a:lstStyle/>
                    <a:p>
                      <a:r>
                        <a:rPr sz="900"/>
                        <a:t>研发 R&amp;D</a:t>
                      </a:r>
                    </a:p>
                  </a:txBody>
                  <a:tcPr/>
                </a:tc>
                <a:tc>
                  <a:txBody>
                    <a:bodyPr/>
                    <a:lstStyle/>
                    <a:p>
                      <a:r>
                        <a:rPr sz="900"/>
                        <a:t>316</a:t>
                      </a:r>
                    </a:p>
                  </a:txBody>
                  <a:tcPr/>
                </a:tc>
                <a:tc>
                  <a:txBody>
                    <a:bodyPr/>
                    <a:lstStyle/>
                    <a:p>
                      <a:r>
                        <a:rPr sz="900"/>
                        <a:t>327</a:t>
                      </a:r>
                    </a:p>
                  </a:txBody>
                  <a:tcPr/>
                </a:tc>
                <a:tc>
                  <a:txBody>
                    <a:bodyPr/>
                    <a:lstStyle/>
                    <a:p>
                      <a:r>
                        <a:rPr sz="900"/>
                        <a:t>337</a:t>
                      </a:r>
                    </a:p>
                  </a:txBody>
                  <a:tcPr/>
                </a:tc>
                <a:tc>
                  <a:txBody>
                    <a:bodyPr/>
                    <a:lstStyle/>
                    <a:p>
                      <a:r>
                        <a:rPr sz="900"/>
                        <a:t>369.15</a:t>
                      </a:r>
                    </a:p>
                  </a:txBody>
                  <a:tcPr/>
                </a:tc>
                <a:tc>
                  <a:txBody>
                    <a:bodyPr/>
                    <a:lstStyle/>
                    <a:p>
                      <a:r>
                        <a:rPr sz="900"/>
                        <a:t>429.64</a:t>
                      </a:r>
                    </a:p>
                  </a:txBody>
                  <a:tcPr/>
                </a:tc>
                <a:tc>
                  <a:txBody>
                    <a:bodyPr/>
                    <a:lstStyle/>
                    <a:p>
                      <a:r>
                        <a:rPr sz="900"/>
                        <a:t>423.36</a:t>
                      </a:r>
                    </a:p>
                  </a:txBody>
                  <a:tcPr/>
                </a:tc>
                <a:tc>
                  <a:txBody>
                    <a:bodyPr/>
                    <a:lstStyle/>
                    <a:p>
                      <a:r>
                        <a:rPr sz="900"/>
                        <a:t>417.09</a:t>
                      </a:r>
                    </a:p>
                  </a:txBody>
                  <a:tcPr/>
                </a:tc>
                <a:tc>
                  <a:txBody>
                    <a:bodyPr/>
                    <a:lstStyle/>
                    <a:p>
                      <a:r>
                        <a:rPr sz="900"/>
                        <a:t>424.80</a:t>
                      </a:r>
                    </a:p>
                  </a:txBody>
                  <a:tcPr/>
                </a:tc>
              </a:tr>
              <a:tr h="274320">
                <a:tc>
                  <a:txBody>
                    <a:bodyPr/>
                    <a:lstStyle/>
                    <a:p>
                      <a:r>
                        <a:rPr sz="900"/>
                        <a:t>销售 S&amp;M</a:t>
                      </a:r>
                    </a:p>
                  </a:txBody>
                  <a:tcPr/>
                </a:tc>
                <a:tc>
                  <a:txBody>
                    <a:bodyPr/>
                    <a:lstStyle/>
                    <a:p>
                      <a:r>
                        <a:rPr sz="900"/>
                        <a:t>179</a:t>
                      </a:r>
                    </a:p>
                  </a:txBody>
                  <a:tcPr/>
                </a:tc>
                <a:tc>
                  <a:txBody>
                    <a:bodyPr/>
                    <a:lstStyle/>
                    <a:p>
                      <a:r>
                        <a:rPr sz="900"/>
                        <a:t>139</a:t>
                      </a:r>
                    </a:p>
                  </a:txBody>
                  <a:tcPr/>
                </a:tc>
                <a:tc>
                  <a:txBody>
                    <a:bodyPr/>
                    <a:lstStyle/>
                    <a:p>
                      <a:r>
                        <a:rPr sz="900"/>
                        <a:t>161</a:t>
                      </a:r>
                    </a:p>
                  </a:txBody>
                  <a:tcPr/>
                </a:tc>
                <a:tc>
                  <a:txBody>
                    <a:bodyPr/>
                    <a:lstStyle/>
                    <a:p>
                      <a:r>
                        <a:rPr sz="900"/>
                        <a:t>177.91</a:t>
                      </a:r>
                    </a:p>
                  </a:txBody>
                  <a:tcPr/>
                </a:tc>
                <a:tc>
                  <a:txBody>
                    <a:bodyPr/>
                    <a:lstStyle/>
                    <a:p>
                      <a:r>
                        <a:rPr sz="900"/>
                        <a:t>184.13</a:t>
                      </a:r>
                    </a:p>
                  </a:txBody>
                  <a:tcPr/>
                </a:tc>
                <a:tc>
                  <a:txBody>
                    <a:bodyPr/>
                    <a:lstStyle/>
                    <a:p>
                      <a:r>
                        <a:rPr sz="900"/>
                        <a:t>196.00</a:t>
                      </a:r>
                    </a:p>
                  </a:txBody>
                  <a:tcPr/>
                </a:tc>
                <a:tc>
                  <a:txBody>
                    <a:bodyPr/>
                    <a:lstStyle/>
                    <a:p>
                      <a:r>
                        <a:rPr sz="900"/>
                        <a:t>178.75</a:t>
                      </a:r>
                    </a:p>
                  </a:txBody>
                  <a:tcPr/>
                </a:tc>
                <a:tc>
                  <a:txBody>
                    <a:bodyPr/>
                    <a:lstStyle/>
                    <a:p>
                      <a:r>
                        <a:rPr sz="900"/>
                        <a:t>182.06</a:t>
                      </a:r>
                    </a:p>
                  </a:txBody>
                  <a:tcPr/>
                </a:tc>
              </a:tr>
              <a:tr h="274320">
                <a:tc>
                  <a:txBody>
                    <a:bodyPr/>
                    <a:lstStyle/>
                    <a:p>
                      <a:r>
                        <a:rPr sz="900"/>
                        <a:t>总营业费用</a:t>
                      </a:r>
                    </a:p>
                  </a:txBody>
                  <a:tcPr/>
                </a:tc>
                <a:tc>
                  <a:txBody>
                    <a:bodyPr/>
                    <a:lstStyle/>
                    <a:p>
                      <a:r>
                        <a:rPr sz="900"/>
                        <a:t>446</a:t>
                      </a:r>
                    </a:p>
                  </a:txBody>
                  <a:tcPr/>
                </a:tc>
                <a:tc>
                  <a:txBody>
                    <a:bodyPr/>
                    <a:lstStyle/>
                    <a:p>
                      <a:r>
                        <a:rPr sz="900"/>
                        <a:t>413</a:t>
                      </a:r>
                    </a:p>
                  </a:txBody>
                  <a:tcPr/>
                </a:tc>
                <a:tc>
                  <a:txBody>
                    <a:bodyPr/>
                    <a:lstStyle/>
                    <a:p>
                      <a:r>
                        <a:rPr sz="900"/>
                        <a:t>448</a:t>
                      </a:r>
                    </a:p>
                  </a:txBody>
                  <a:tcPr/>
                </a:tc>
                <a:tc>
                  <a:txBody>
                    <a:bodyPr/>
                    <a:lstStyle/>
                    <a:p>
                      <a:r>
                        <a:rPr sz="900"/>
                        <a:t>489.24</a:t>
                      </a:r>
                    </a:p>
                  </a:txBody>
                  <a:tcPr/>
                </a:tc>
                <a:tc>
                  <a:txBody>
                    <a:bodyPr/>
                    <a:lstStyle/>
                    <a:p>
                      <a:r>
                        <a:rPr sz="900"/>
                        <a:t>527.84</a:t>
                      </a:r>
                    </a:p>
                  </a:txBody>
                  <a:tcPr/>
                </a:tc>
                <a:tc>
                  <a:txBody>
                    <a:bodyPr/>
                    <a:lstStyle/>
                    <a:p>
                      <a:r>
                        <a:rPr sz="900"/>
                        <a:t>533.12</a:t>
                      </a:r>
                    </a:p>
                  </a:txBody>
                  <a:tcPr/>
                </a:tc>
                <a:tc>
                  <a:txBody>
                    <a:bodyPr/>
                    <a:lstStyle/>
                    <a:p>
                      <a:r>
                        <a:rPr sz="900"/>
                        <a:t>530.29</a:t>
                      </a:r>
                    </a:p>
                  </a:txBody>
                  <a:tcPr/>
                </a:tc>
                <a:tc>
                  <a:txBody>
                    <a:bodyPr/>
                    <a:lstStyle/>
                    <a:p>
                      <a:r>
                        <a:rPr sz="900"/>
                        <a:t>534.04</a:t>
                      </a:r>
                    </a:p>
                  </a:txBody>
                  <a:tcPr/>
                </a:tc>
              </a:tr>
              <a:tr h="274320">
                <a:tc>
                  <a:txBody>
                    <a:bodyPr/>
                    <a:lstStyle/>
                    <a:p>
                      <a:r>
                        <a:rPr sz="900"/>
                        <a:t>经营利润</a:t>
                      </a:r>
                    </a:p>
                  </a:txBody>
                  <a:tcPr/>
                </a:tc>
                <a:tc>
                  <a:txBody>
                    <a:bodyPr/>
                    <a:lstStyle/>
                    <a:p>
                      <a:r>
                        <a:rPr sz="900"/>
                        <a:t>245</a:t>
                      </a:r>
                    </a:p>
                  </a:txBody>
                  <a:tcPr/>
                </a:tc>
                <a:tc>
                  <a:txBody>
                    <a:bodyPr/>
                    <a:lstStyle/>
                    <a:p>
                      <a:r>
                        <a:rPr sz="900"/>
                        <a:t>1,133</a:t>
                      </a:r>
                    </a:p>
                  </a:txBody>
                  <a:tcPr/>
                </a:tc>
                <a:tc>
                  <a:txBody>
                    <a:bodyPr/>
                    <a:lstStyle/>
                    <a:p>
                      <a:r>
                        <a:rPr sz="900"/>
                        <a:t>4,218</a:t>
                      </a:r>
                    </a:p>
                  </a:txBody>
                  <a:tcPr/>
                </a:tc>
                <a:tc>
                  <a:txBody>
                    <a:bodyPr/>
                    <a:lstStyle/>
                    <a:p>
                      <a:r>
                        <a:rPr sz="900"/>
                        <a:t>6,626.96</a:t>
                      </a:r>
                    </a:p>
                  </a:txBody>
                  <a:tcPr/>
                </a:tc>
                <a:tc>
                  <a:txBody>
                    <a:bodyPr/>
                    <a:lstStyle/>
                    <a:p>
                      <a:r>
                        <a:rPr sz="900"/>
                        <a:t>9,538.02</a:t>
                      </a:r>
                    </a:p>
                  </a:txBody>
                  <a:tcPr/>
                </a:tc>
                <a:tc>
                  <a:txBody>
                    <a:bodyPr/>
                    <a:lstStyle/>
                    <a:p>
                      <a:r>
                        <a:rPr sz="900"/>
                        <a:t>12,324.42</a:t>
                      </a:r>
                    </a:p>
                  </a:txBody>
                  <a:tcPr/>
                </a:tc>
                <a:tc>
                  <a:txBody>
                    <a:bodyPr/>
                    <a:lstStyle/>
                    <a:p>
                      <a:r>
                        <a:rPr sz="900"/>
                        <a:t>9,181.85</a:t>
                      </a:r>
                    </a:p>
                  </a:txBody>
                  <a:tcPr/>
                </a:tc>
                <a:tc>
                  <a:txBody>
                    <a:bodyPr/>
                    <a:lstStyle/>
                    <a:p>
                      <a:r>
                        <a:rPr sz="900"/>
                        <a:t>9,357.78</a:t>
                      </a:r>
                    </a:p>
                  </a:txBody>
                  <a:tcPr/>
                </a:tc>
              </a:tr>
              <a:tr h="274320">
                <a:tc>
                  <a:txBody>
                    <a:bodyPr/>
                    <a:lstStyle/>
                    <a:p>
                      <a:r>
                        <a:rPr sz="900"/>
                        <a:t>经营利润率</a:t>
                      </a:r>
                    </a:p>
                  </a:txBody>
                  <a:tcPr/>
                </a:tc>
                <a:tc>
                  <a:txBody>
                    <a:bodyPr/>
                    <a:lstStyle/>
                    <a:p>
                      <a:r>
                        <a:rPr sz="900"/>
                        <a:t>10.6%</a:t>
                      </a:r>
                    </a:p>
                  </a:txBody>
                  <a:tcPr/>
                </a:tc>
                <a:tc>
                  <a:txBody>
                    <a:bodyPr/>
                    <a:lstStyle/>
                    <a:p>
                      <a:r>
                        <a:rPr sz="900"/>
                        <a:t>37.5%</a:t>
                      </a:r>
                    </a:p>
                  </a:txBody>
                  <a:tcPr/>
                </a:tc>
                <a:tc>
                  <a:txBody>
                    <a:bodyPr/>
                    <a:lstStyle/>
                    <a:p>
                      <a:r>
                        <a:rPr sz="900"/>
                        <a:t>70.9%</a:t>
                      </a:r>
                    </a:p>
                  </a:txBody>
                  <a:tcPr/>
                </a:tc>
                <a:tc>
                  <a:txBody>
                    <a:bodyPr/>
                    <a:lstStyle/>
                    <a:p>
                      <a:r>
                        <a:rPr sz="900"/>
                        <a:t>74.5%</a:t>
                      </a:r>
                    </a:p>
                  </a:txBody>
                  <a:tcPr/>
                </a:tc>
                <a:tc>
                  <a:txBody>
                    <a:bodyPr/>
                    <a:lstStyle/>
                    <a:p>
                      <a:r>
                        <a:rPr sz="900"/>
                        <a:t>77.7%</a:t>
                      </a:r>
                    </a:p>
                  </a:txBody>
                  <a:tcPr/>
                </a:tc>
                <a:tc>
                  <a:txBody>
                    <a:bodyPr/>
                    <a:lstStyle/>
                    <a:p>
                      <a:r>
                        <a:rPr sz="900"/>
                        <a:t>78.6%</a:t>
                      </a:r>
                    </a:p>
                  </a:txBody>
                  <a:tcPr/>
                </a:tc>
                <a:tc>
                  <a:txBody>
                    <a:bodyPr/>
                    <a:lstStyle/>
                    <a:p>
                      <a:r>
                        <a:rPr sz="900"/>
                        <a:t>77.0%</a:t>
                      </a:r>
                    </a:p>
                  </a:txBody>
                  <a:tcPr/>
                </a:tc>
                <a:tc>
                  <a:txBody>
                    <a:bodyPr/>
                    <a:lstStyle/>
                    <a:p>
                      <a:r>
                        <a:rPr sz="900"/>
                        <a:t>77.1%</a:t>
                      </a:r>
                    </a:p>
                  </a:txBody>
                  <a:tcPr/>
                </a:tc>
              </a:tr>
              <a:tr h="274320">
                <a:tc>
                  <a:txBody>
                    <a:bodyPr/>
                    <a:lstStyle/>
                    <a:p>
                      <a:r>
                        <a:rPr sz="900"/>
                        <a:t>EBITDA</a:t>
                      </a:r>
                    </a:p>
                  </a:txBody>
                  <a:tcPr/>
                </a:tc>
                <a:tc>
                  <a:txBody>
                    <a:bodyPr/>
                    <a:lstStyle/>
                    <a:p>
                      <a:r>
                        <a:rPr sz="900"/>
                        <a:t>290</a:t>
                      </a:r>
                    </a:p>
                  </a:txBody>
                  <a:tcPr/>
                </a:tc>
                <a:tc>
                  <a:txBody>
                    <a:bodyPr/>
                    <a:lstStyle/>
                    <a:p>
                      <a:r>
                        <a:rPr sz="900"/>
                        <a:t>1,180</a:t>
                      </a:r>
                    </a:p>
                  </a:txBody>
                  <a:tcPr/>
                </a:tc>
                <a:tc>
                  <a:txBody>
                    <a:bodyPr/>
                    <a:lstStyle/>
                    <a:p>
                      <a:r>
                        <a:rPr sz="900"/>
                        <a:t>4,256</a:t>
                      </a:r>
                    </a:p>
                  </a:txBody>
                  <a:tcPr/>
                </a:tc>
                <a:tc>
                  <a:txBody>
                    <a:bodyPr/>
                    <a:lstStyle/>
                    <a:p>
                      <a:r>
                        <a:rPr sz="900"/>
                        <a:t>6,664.96</a:t>
                      </a:r>
                    </a:p>
                  </a:txBody>
                  <a:tcPr/>
                </a:tc>
                <a:tc>
                  <a:txBody>
                    <a:bodyPr/>
                    <a:lstStyle/>
                    <a:p>
                      <a:r>
                        <a:rPr sz="900"/>
                        <a:t>9,576.02</a:t>
                      </a:r>
                    </a:p>
                  </a:txBody>
                  <a:tcPr/>
                </a:tc>
                <a:tc>
                  <a:txBody>
                    <a:bodyPr/>
                    <a:lstStyle/>
                    <a:p>
                      <a:r>
                        <a:rPr sz="900"/>
                        <a:t>12,362.42</a:t>
                      </a:r>
                    </a:p>
                  </a:txBody>
                  <a:tcPr/>
                </a:tc>
                <a:tc>
                  <a:txBody>
                    <a:bodyPr/>
                    <a:lstStyle/>
                    <a:p>
                      <a:r>
                        <a:rPr sz="900"/>
                        <a:t>9,219.85</a:t>
                      </a:r>
                    </a:p>
                  </a:txBody>
                  <a:tcPr/>
                </a:tc>
                <a:tc>
                  <a:txBody>
                    <a:bodyPr/>
                    <a:lstStyle/>
                    <a:p>
                      <a:r>
                        <a:rPr sz="900"/>
                        <a:t>9,395.78</a:t>
                      </a:r>
                    </a:p>
                  </a:txBody>
                  <a:tcPr/>
                </a:tc>
              </a:tr>
              <a:tr h="274320">
                <a:tc>
                  <a:txBody>
                    <a:bodyPr/>
                    <a:lstStyle/>
                    <a:p>
                      <a:r>
                        <a:rPr sz="900"/>
                        <a:t>Non-GAAP 净利</a:t>
                      </a:r>
                    </a:p>
                  </a:txBody>
                  <a:tcPr/>
                </a:tc>
                <a:tc>
                  <a:txBody>
                    <a:bodyPr/>
                    <a:lstStyle/>
                    <a:p>
                      <a:r>
                        <a:rPr sz="900"/>
                        <a:t>181</a:t>
                      </a:r>
                    </a:p>
                  </a:txBody>
                  <a:tcPr/>
                </a:tc>
                <a:tc>
                  <a:txBody>
                    <a:bodyPr/>
                    <a:lstStyle/>
                    <a:p>
                      <a:r>
                        <a:rPr sz="900"/>
                        <a:t>967</a:t>
                      </a:r>
                    </a:p>
                  </a:txBody>
                  <a:tcPr/>
                </a:tc>
                <a:tc>
                  <a:txBody>
                    <a:bodyPr/>
                    <a:lstStyle/>
                    <a:p>
                      <a:r>
                        <a:rPr sz="900"/>
                        <a:t>3,675</a:t>
                      </a:r>
                    </a:p>
                  </a:txBody>
                  <a:tcPr/>
                </a:tc>
                <a:tc>
                  <a:txBody>
                    <a:bodyPr/>
                    <a:lstStyle/>
                    <a:p>
                      <a:r>
                        <a:rPr sz="900"/>
                        <a:t>5,712.95</a:t>
                      </a:r>
                    </a:p>
                  </a:txBody>
                  <a:tcPr/>
                </a:tc>
                <a:tc>
                  <a:txBody>
                    <a:bodyPr/>
                    <a:lstStyle/>
                    <a:p>
                      <a:r>
                        <a:rPr sz="900"/>
                        <a:t>8,120.92</a:t>
                      </a:r>
                    </a:p>
                  </a:txBody>
                  <a:tcPr/>
                </a:tc>
                <a:tc>
                  <a:txBody>
                    <a:bodyPr/>
                    <a:lstStyle/>
                    <a:p>
                      <a:r>
                        <a:rPr sz="900"/>
                        <a:t>10,489.35</a:t>
                      </a:r>
                    </a:p>
                  </a:txBody>
                  <a:tcPr/>
                </a:tc>
                <a:tc>
                  <a:txBody>
                    <a:bodyPr/>
                    <a:lstStyle/>
                    <a:p>
                      <a:r>
                        <a:rPr sz="900"/>
                        <a:t>7,818.17</a:t>
                      </a:r>
                    </a:p>
                  </a:txBody>
                  <a:tcPr/>
                </a:tc>
                <a:tc>
                  <a:txBody>
                    <a:bodyPr/>
                    <a:lstStyle/>
                    <a:p>
                      <a:r>
                        <a:rPr sz="900"/>
                        <a:t>7,967.71</a:t>
                      </a:r>
                    </a:p>
                  </a:txBody>
                  <a:tcPr/>
                </a:tc>
              </a:tr>
              <a:tr h="274320">
                <a:tc>
                  <a:txBody>
                    <a:bodyPr/>
                    <a:lstStyle/>
                    <a:p>
                      <a:r>
                        <a:rPr sz="900"/>
                        <a:t>净利率</a:t>
                      </a:r>
                    </a:p>
                  </a:txBody>
                  <a:tcPr/>
                </a:tc>
                <a:tc>
                  <a:txBody>
                    <a:bodyPr/>
                    <a:lstStyle/>
                    <a:p>
                      <a:r>
                        <a:rPr sz="900"/>
                        <a:t>7.8%</a:t>
                      </a:r>
                    </a:p>
                  </a:txBody>
                  <a:tcPr/>
                </a:tc>
                <a:tc>
                  <a:txBody>
                    <a:bodyPr/>
                    <a:lstStyle/>
                    <a:p>
                      <a:r>
                        <a:rPr sz="900"/>
                        <a:t>32.0%</a:t>
                      </a:r>
                    </a:p>
                  </a:txBody>
                  <a:tcPr/>
                </a:tc>
                <a:tc>
                  <a:txBody>
                    <a:bodyPr/>
                    <a:lstStyle/>
                    <a:p>
                      <a:r>
                        <a:rPr sz="900"/>
                        <a:t>61.8%</a:t>
                      </a:r>
                    </a:p>
                  </a:txBody>
                  <a:tcPr/>
                </a:tc>
                <a:tc>
                  <a:txBody>
                    <a:bodyPr/>
                    <a:lstStyle/>
                    <a:p>
                      <a:r>
                        <a:rPr sz="900"/>
                        <a:t>64.2%</a:t>
                      </a:r>
                    </a:p>
                  </a:txBody>
                  <a:tcPr/>
                </a:tc>
                <a:tc>
                  <a:txBody>
                    <a:bodyPr/>
                    <a:lstStyle/>
                    <a:p>
                      <a:r>
                        <a:rPr sz="900"/>
                        <a:t>66.2%</a:t>
                      </a:r>
                    </a:p>
                  </a:txBody>
                  <a:tcPr/>
                </a:tc>
                <a:tc>
                  <a:txBody>
                    <a:bodyPr/>
                    <a:lstStyle/>
                    <a:p>
                      <a:r>
                        <a:rPr sz="900"/>
                        <a:t>66.9%</a:t>
                      </a:r>
                    </a:p>
                  </a:txBody>
                  <a:tcPr/>
                </a:tc>
                <a:tc>
                  <a:txBody>
                    <a:bodyPr/>
                    <a:lstStyle/>
                    <a:p>
                      <a:r>
                        <a:rPr sz="900"/>
                        <a:t>65.6%</a:t>
                      </a:r>
                    </a:p>
                  </a:txBody>
                  <a:tcPr/>
                </a:tc>
                <a:tc>
                  <a:txBody>
                    <a:bodyPr/>
                    <a:lstStyle/>
                    <a:p>
                      <a:r>
                        <a:rPr sz="900"/>
                        <a:t>65.6%</a:t>
                      </a:r>
                    </a:p>
                  </a:txBody>
                  <a:tcPr/>
                </a:tc>
              </a:tr>
              <a:tr h="274320">
                <a:tc>
                  <a:txBody>
                    <a:bodyPr/>
                    <a:lstStyle/>
                    <a:p>
                      <a:r>
                        <a:rPr sz="900"/>
                        <a:t>Non-GAAP EPS</a:t>
                      </a:r>
                    </a:p>
                  </a:txBody>
                  <a:tcPr/>
                </a:tc>
                <a:tc>
                  <a:txBody>
                    <a:bodyPr/>
                    <a:lstStyle/>
                    <a:p>
                      <a:r>
                        <a:rPr sz="900"/>
                        <a:t>1.21</a:t>
                      </a:r>
                    </a:p>
                  </a:txBody>
                  <a:tcPr/>
                </a:tc>
                <a:tc>
                  <a:txBody>
                    <a:bodyPr/>
                    <a:lstStyle/>
                    <a:p>
                      <a:r>
                        <a:rPr sz="900"/>
                        <a:t>6.20</a:t>
                      </a:r>
                    </a:p>
                  </a:txBody>
                  <a:tcPr/>
                </a:tc>
                <a:tc>
                  <a:txBody>
                    <a:bodyPr/>
                    <a:lstStyle/>
                    <a:p>
                      <a:r>
                        <a:rPr sz="900"/>
                        <a:t>23.41</a:t>
                      </a:r>
                    </a:p>
                  </a:txBody>
                  <a:tcPr/>
                </a:tc>
                <a:tc>
                  <a:txBody>
                    <a:bodyPr/>
                    <a:lstStyle/>
                    <a:p>
                      <a:r>
                        <a:rPr sz="900"/>
                        <a:t>36.16</a:t>
                      </a:r>
                    </a:p>
                  </a:txBody>
                  <a:tcPr/>
                </a:tc>
                <a:tc>
                  <a:txBody>
                    <a:bodyPr/>
                    <a:lstStyle/>
                    <a:p>
                      <a:r>
                        <a:rPr sz="900"/>
                        <a:t>51.40</a:t>
                      </a:r>
                    </a:p>
                  </a:txBody>
                  <a:tcPr/>
                </a:tc>
                <a:tc>
                  <a:txBody>
                    <a:bodyPr/>
                    <a:lstStyle/>
                    <a:p>
                      <a:r>
                        <a:rPr sz="900"/>
                        <a:t>66.39</a:t>
                      </a:r>
                    </a:p>
                  </a:txBody>
                  <a:tcPr/>
                </a:tc>
                <a:tc>
                  <a:txBody>
                    <a:bodyPr/>
                    <a:lstStyle/>
                    <a:p>
                      <a:r>
                        <a:rPr sz="900"/>
                        <a:t>49.48</a:t>
                      </a:r>
                    </a:p>
                  </a:txBody>
                  <a:tcPr/>
                </a:tc>
                <a:tc>
                  <a:txBody>
                    <a:bodyPr/>
                    <a:lstStyle/>
                    <a:p>
                      <a:r>
                        <a:rPr sz="900"/>
                        <a:t>50.43</a:t>
                      </a:r>
                    </a:p>
                  </a:txBody>
                  <a:tcPr/>
                </a:tc>
              </a:tr>
              <a:tr h="274320">
                <a:tc>
                  <a:txBody>
                    <a:bodyPr/>
                    <a:lstStyle/>
                    <a:p>
                      <a:r>
                        <a:rPr sz="900"/>
                        <a:t>稀释股本 (mn)</a:t>
                      </a:r>
                    </a:p>
                  </a:txBody>
                  <a:tcPr/>
                </a:tc>
                <a:tc>
                  <a:txBody>
                    <a:bodyPr/>
                    <a:lstStyle/>
                    <a:p>
                      <a:r>
                        <a:rPr sz="900"/>
                        <a:t>149</a:t>
                      </a:r>
                    </a:p>
                  </a:txBody>
                  <a:tcPr/>
                </a:tc>
                <a:tc>
                  <a:txBody>
                    <a:bodyPr/>
                    <a:lstStyle/>
                    <a:p>
                      <a:r>
                        <a:rPr sz="900"/>
                        <a:t>156</a:t>
                      </a:r>
                    </a:p>
                  </a:txBody>
                  <a:tcPr/>
                </a:tc>
                <a:tc>
                  <a:txBody>
                    <a:bodyPr/>
                    <a:lstStyle/>
                    <a:p>
                      <a:r>
                        <a:rPr sz="900"/>
                        <a:t>157</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5.2 年度预测（US$m，Non-GAAP；FY 截止 6 月，与模型 FY 列对齐）</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286000"/>
                <a:gridCol w="2286000"/>
                <a:gridCol w="2286000"/>
                <a:gridCol w="2286000"/>
                <a:gridCol w="2286000"/>
              </a:tblGrid>
              <a:tr h="274319">
                <a:tc>
                  <a:txBody>
                    <a:bodyPr/>
                    <a:lstStyle/>
                    <a:p>
                      <a:r>
                        <a:rPr sz="900" b="1">
                          <a:solidFill>
                            <a:srgbClr val="FFFFFF"/>
                          </a:solidFill>
                        </a:rPr>
                        <a:t>指标</a:t>
                      </a:r>
                    </a:p>
                  </a:txBody>
                  <a:tcPr>
                    <a:solidFill>
                      <a:srgbClr val="103455"/>
                    </a:solidFill>
                  </a:tcPr>
                </a:tc>
                <a:tc>
                  <a:txBody>
                    <a:bodyPr/>
                    <a:lstStyle/>
                    <a:p>
                      <a:r>
                        <a:rPr sz="900" b="1">
                          <a:solidFill>
                            <a:srgbClr val="FFFFFF"/>
                          </a:solidFill>
                        </a:rPr>
                        <a:t>FY25</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19">
                <a:tc>
                  <a:txBody>
                    <a:bodyPr/>
                    <a:lstStyle/>
                    <a:p>
                      <a:r>
                        <a:rPr sz="900"/>
                        <a:t>营收</a:t>
                      </a:r>
                    </a:p>
                  </a:txBody>
                  <a:tcPr/>
                </a:tc>
                <a:tc>
                  <a:txBody>
                    <a:bodyPr/>
                    <a:lstStyle/>
                    <a:p>
                      <a:r>
                        <a:rPr sz="900"/>
                        <a:t>7,355</a:t>
                      </a:r>
                    </a:p>
                  </a:txBody>
                  <a:tcPr/>
                </a:tc>
                <a:tc>
                  <a:txBody>
                    <a:bodyPr/>
                    <a:lstStyle/>
                    <a:p>
                      <a:r>
                        <a:rPr sz="900"/>
                        <a:t>19,213</a:t>
                      </a:r>
                    </a:p>
                  </a:txBody>
                  <a:tcPr/>
                </a:tc>
                <a:tc>
                  <a:txBody>
                    <a:bodyPr/>
                    <a:lstStyle/>
                    <a:p>
                      <a:r>
                        <a:rPr sz="900"/>
                        <a:t>44,164</a:t>
                      </a:r>
                    </a:p>
                  </a:txBody>
                  <a:tcPr/>
                </a:tc>
                <a:tc>
                  <a:txBody>
                    <a:bodyPr/>
                    <a:lstStyle/>
                    <a:p>
                      <a:r>
                        <a:rPr sz="900"/>
                        <a:t>45,595</a:t>
                      </a:r>
                    </a:p>
                  </a:txBody>
                  <a:tcPr/>
                </a:tc>
              </a:tr>
              <a:tr h="274319">
                <a:tc>
                  <a:txBody>
                    <a:bodyPr/>
                    <a:lstStyle/>
                    <a:p>
                      <a:r>
                        <a:rPr sz="900"/>
                        <a:t>毛利率</a:t>
                      </a:r>
                    </a:p>
                  </a:txBody>
                  <a:tcPr/>
                </a:tc>
                <a:tc>
                  <a:txBody>
                    <a:bodyPr/>
                    <a:lstStyle/>
                    <a:p>
                      <a:r>
                        <a:rPr sz="900"/>
                        <a:t>27.5%</a:t>
                      </a:r>
                    </a:p>
                  </a:txBody>
                  <a:tcPr/>
                </a:tc>
                <a:tc>
                  <a:txBody>
                    <a:bodyPr/>
                    <a:lstStyle/>
                    <a:p>
                      <a:r>
                        <a:rPr sz="900"/>
                        <a:t>62.0%</a:t>
                      </a:r>
                    </a:p>
                  </a:txBody>
                  <a:tcPr/>
                </a:tc>
                <a:tc>
                  <a:txBody>
                    <a:bodyPr/>
                    <a:lstStyle/>
                    <a:p>
                      <a:r>
                        <a:rPr sz="900"/>
                        <a:t>80.0%</a:t>
                      </a:r>
                    </a:p>
                  </a:txBody>
                  <a:tcPr/>
                </a:tc>
                <a:tc>
                  <a:txBody>
                    <a:bodyPr/>
                    <a:lstStyle/>
                    <a:p>
                      <a:r>
                        <a:rPr sz="900"/>
                        <a:t>78.0%</a:t>
                      </a:r>
                    </a:p>
                  </a:txBody>
                  <a:tcPr/>
                </a:tc>
              </a:tr>
              <a:tr h="274319">
                <a:tc>
                  <a:txBody>
                    <a:bodyPr/>
                    <a:lstStyle/>
                    <a:p>
                      <a:r>
                        <a:rPr sz="900"/>
                        <a:t>Non-GAAP 净利</a:t>
                      </a:r>
                    </a:p>
                  </a:txBody>
                  <a:tcPr/>
                </a:tc>
                <a:tc>
                  <a:txBody>
                    <a:bodyPr/>
                    <a:lstStyle/>
                    <a:p>
                      <a:r>
                        <a:rPr sz="900"/>
                        <a:t>—</a:t>
                      </a:r>
                    </a:p>
                  </a:txBody>
                  <a:tcPr/>
                </a:tc>
                <a:tc>
                  <a:txBody>
                    <a:bodyPr/>
                    <a:lstStyle/>
                    <a:p>
                      <a:r>
                        <a:rPr sz="900"/>
                        <a:t>10,140</a:t>
                      </a:r>
                    </a:p>
                  </a:txBody>
                  <a:tcPr/>
                </a:tc>
                <a:tc>
                  <a:txBody>
                    <a:bodyPr/>
                    <a:lstStyle/>
                    <a:p>
                      <a:r>
                        <a:rPr sz="900"/>
                        <a:t>31,206</a:t>
                      </a:r>
                    </a:p>
                  </a:txBody>
                  <a:tcPr/>
                </a:tc>
                <a:tc>
                  <a:txBody>
                    <a:bodyPr/>
                    <a:lstStyle/>
                    <a:p>
                      <a:r>
                        <a:rPr sz="900"/>
                        <a:t>31,680</a:t>
                      </a:r>
                    </a:p>
                  </a:txBody>
                  <a:tcPr/>
                </a:tc>
              </a:tr>
              <a:tr h="274319">
                <a:tc>
                  <a:txBody>
                    <a:bodyPr/>
                    <a:lstStyle/>
                    <a:p>
                      <a:r>
                        <a:rPr sz="900"/>
                        <a:t>净利率</a:t>
                      </a:r>
                    </a:p>
                  </a:txBody>
                  <a:tcPr/>
                </a:tc>
                <a:tc>
                  <a:txBody>
                    <a:bodyPr/>
                    <a:lstStyle/>
                    <a:p>
                      <a:r>
                        <a:rPr sz="900"/>
                        <a:t>—</a:t>
                      </a:r>
                    </a:p>
                  </a:txBody>
                  <a:tcPr/>
                </a:tc>
                <a:tc>
                  <a:txBody>
                    <a:bodyPr/>
                    <a:lstStyle/>
                    <a:p>
                      <a:r>
                        <a:rPr sz="900"/>
                        <a:t>52.8%</a:t>
                      </a:r>
                    </a:p>
                  </a:txBody>
                  <a:tcPr/>
                </a:tc>
                <a:tc>
                  <a:txBody>
                    <a:bodyPr/>
                    <a:lstStyle/>
                    <a:p>
                      <a:r>
                        <a:rPr sz="900"/>
                        <a:t>70.7%</a:t>
                      </a:r>
                    </a:p>
                  </a:txBody>
                  <a:tcPr/>
                </a:tc>
                <a:tc>
                  <a:txBody>
                    <a:bodyPr/>
                    <a:lstStyle/>
                    <a:p>
                      <a:r>
                        <a:rPr sz="900"/>
                        <a:t>69.5%</a:t>
                      </a:r>
                    </a:p>
                  </a:txBody>
                  <a:tcPr/>
                </a:tc>
              </a:tr>
              <a:tr h="274324">
                <a:tc>
                  <a:txBody>
                    <a:bodyPr/>
                    <a:lstStyle/>
                    <a:p>
                      <a:r>
                        <a:rPr sz="900"/>
                        <a:t>Non-GAAP EPS</a:t>
                      </a:r>
                    </a:p>
                  </a:txBody>
                  <a:tcPr/>
                </a:tc>
                <a:tc>
                  <a:txBody>
                    <a:bodyPr/>
                    <a:lstStyle/>
                    <a:p>
                      <a:r>
                        <a:rPr sz="900"/>
                        <a:t>$2.99</a:t>
                      </a:r>
                    </a:p>
                  </a:txBody>
                  <a:tcPr/>
                </a:tc>
                <a:tc>
                  <a:txBody>
                    <a:bodyPr/>
                    <a:lstStyle/>
                    <a:p>
                      <a:r>
                        <a:rPr sz="900"/>
                        <a:t>$64.73</a:t>
                      </a:r>
                    </a:p>
                  </a:txBody>
                  <a:tcPr/>
                </a:tc>
                <a:tc>
                  <a:txBody>
                    <a:bodyPr/>
                    <a:lstStyle/>
                    <a:p>
                      <a:r>
                        <a:rPr sz="900"/>
                        <a:t>$200.47</a:t>
                      </a:r>
                    </a:p>
                  </a:txBody>
                  <a:tcPr/>
                </a:tc>
                <a:tc>
                  <a:txBody>
                    <a:bodyPr/>
                    <a:lstStyle/>
                    <a:p>
                      <a:r>
                        <a:rPr sz="900"/>
                        <a:t>$202.69</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5.3：季度营收与同比增速（OA model，含预测 E）</a:t>
            </a:r>
          </a:p>
        </p:txBody>
      </p:sp>
      <p:pic>
        <p:nvPicPr>
          <p:cNvPr id="3" name="Picture 2" descr="SNDK_chart_revenue.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5.4：季度 Non-GAAP 净利润（OA model，含预测 E）</a:t>
            </a:r>
          </a:p>
        </p:txBody>
      </p:sp>
      <p:pic>
        <p:nvPicPr>
          <p:cNvPr id="3" name="Picture 2" descr="SNDK_chart_ni.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5.5：关键经营指标——出货量(EB) × ASP($/bit)（OA model，含预测 E）</a:t>
            </a:r>
          </a:p>
        </p:txBody>
      </p:sp>
      <p:pic>
        <p:nvPicPr>
          <p:cNvPr id="3" name="Picture 2" descr="SNDK_chart_ops.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6. 关键指引与催化剂</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FQ4'26 指引全面碾压 Street，FY26/27 比特锁定持续抬升能见度。</a:t>
            </a:r>
          </a:p>
          <a:p>
            <a:r>
              <a:rPr sz="1100"/>
              <a:t>• 管理层 FQ4'26 指引：营收 $77.5–82.5亿、Non-GAAP GPM 79–81%、EPS $30–33（约 1.58 亿股），Stargate QLC 开始创收。FY26 全年：比特增长与市场需求同步（中高双位数）、BiCS8 占比 FY26 末 &gt;50%、CapEx 中低双位数% 收入、数据中心 EB 增长 CY26 mid-70%+、NBM 覆盖 FY27 超 1/3 比特并目标 &gt;50%。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6.1 催化剂日历</a:t>
            </a:r>
          </a:p>
        </p:txBody>
      </p:sp>
      <p:graphicFrame>
        <p:nvGraphicFramePr>
          <p:cNvPr id="3" name="Table 2"/>
          <p:cNvGraphicFramePr>
            <a:graphicFrameLocks noGrp="1"/>
          </p:cNvGraphicFramePr>
          <p:nvPr/>
        </p:nvGraphicFramePr>
        <p:xfrm>
          <a:off x="365760" y="1097280"/>
          <a:ext cx="11430000" cy="192024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日期</a:t>
                      </a:r>
                    </a:p>
                  </a:txBody>
                  <a:tcPr>
                    <a:solidFill>
                      <a:srgbClr val="103455"/>
                    </a:solidFill>
                  </a:tcPr>
                </a:tc>
                <a:tc>
                  <a:txBody>
                    <a:bodyPr/>
                    <a:lstStyle/>
                    <a:p>
                      <a:r>
                        <a:rPr sz="900" b="1">
                          <a:solidFill>
                            <a:srgbClr val="FFFFFF"/>
                          </a:solidFill>
                        </a:rPr>
                        <a:t>事件</a:t>
                      </a:r>
                    </a:p>
                  </a:txBody>
                  <a:tcPr>
                    <a:solidFill>
                      <a:srgbClr val="103455"/>
                    </a:solidFill>
                  </a:tcPr>
                </a:tc>
                <a:tc>
                  <a:txBody>
                    <a:bodyPr/>
                    <a:lstStyle/>
                    <a:p>
                      <a:r>
                        <a:rPr sz="900" b="1">
                          <a:solidFill>
                            <a:srgbClr val="FFFFFF"/>
                          </a:solidFill>
                        </a:rPr>
                        <a:t>状态</a:t>
                      </a:r>
                    </a:p>
                  </a:txBody>
                  <a:tcPr>
                    <a:solidFill>
                      <a:srgbClr val="103455"/>
                    </a:solidFill>
                  </a:tcPr>
                </a:tc>
              </a:tr>
              <a:tr h="274320">
                <a:tc>
                  <a:txBody>
                    <a:bodyPr/>
                    <a:lstStyle/>
                    <a:p>
                      <a:r>
                        <a:rPr sz="900"/>
                        <a:t>2026-07 (est)</a:t>
                      </a:r>
                    </a:p>
                  </a:txBody>
                  <a:tcPr/>
                </a:tc>
                <a:tc>
                  <a:txBody>
                    <a:bodyPr/>
                    <a:lstStyle/>
                    <a:p>
                      <a:r>
                        <a:rPr sz="900"/>
                        <a:t>FQ4'26 业绩（指引 $77.5–82.5B rev, EPS $30–33）</a:t>
                      </a:r>
                    </a:p>
                  </a:txBody>
                  <a:tcPr/>
                </a:tc>
                <a:tc>
                  <a:txBody>
                    <a:bodyPr/>
                    <a:lstStyle/>
                    <a:p>
                      <a:r>
                        <a:rPr sz="900"/>
                        <a:t>upcoming</a:t>
                      </a:r>
                    </a:p>
                  </a:txBody>
                  <a:tcPr/>
                </a:tc>
              </a:tr>
              <a:tr h="274320">
                <a:tc>
                  <a:txBody>
                    <a:bodyPr/>
                    <a:lstStyle/>
                    <a:p>
                      <a:r>
                        <a:rPr sz="900"/>
                        <a:t>2026-Q3</a:t>
                      </a:r>
                    </a:p>
                  </a:txBody>
                  <a:tcPr/>
                </a:tc>
                <a:tc>
                  <a:txBody>
                    <a:bodyPr/>
                    <a:lstStyle/>
                    <a:p>
                      <a:r>
                        <a:rPr sz="900"/>
                        <a:t>Stargate QLC 首批企业 SSD 创收确认</a:t>
                      </a:r>
                    </a:p>
                  </a:txBody>
                  <a:tcPr/>
                </a:tc>
                <a:tc>
                  <a:txBody>
                    <a:bodyPr/>
                    <a:lstStyle/>
                    <a:p>
                      <a:r>
                        <a:rPr sz="900"/>
                        <a:t>upcoming</a:t>
                      </a:r>
                    </a:p>
                  </a:txBody>
                  <a:tcPr/>
                </a:tc>
              </a:tr>
              <a:tr h="274320">
                <a:tc>
                  <a:txBody>
                    <a:bodyPr/>
                    <a:lstStyle/>
                    <a:p>
                      <a:r>
                        <a:rPr sz="900"/>
                        <a:t>2026-Q3~Q4</a:t>
                      </a:r>
                    </a:p>
                  </a:txBody>
                  <a:tcPr/>
                </a:tc>
                <a:tc>
                  <a:txBody>
                    <a:bodyPr/>
                    <a:lstStyle/>
                    <a:p>
                      <a:r>
                        <a:rPr sz="900"/>
                        <a:t>更多 NBM 协议签署（目标 &gt;50% 比特锁定）</a:t>
                      </a:r>
                    </a:p>
                  </a:txBody>
                  <a:tcPr/>
                </a:tc>
                <a:tc>
                  <a:txBody>
                    <a:bodyPr/>
                    <a:lstStyle/>
                    <a:p>
                      <a:r>
                        <a:rPr sz="900"/>
                        <a:t>upcoming</a:t>
                      </a:r>
                    </a:p>
                  </a:txBody>
                  <a:tcPr/>
                </a:tc>
              </a:tr>
              <a:tr h="274320">
                <a:tc>
                  <a:txBody>
                    <a:bodyPr/>
                    <a:lstStyle/>
                    <a:p>
                      <a:r>
                        <a:rPr sz="900"/>
                        <a:t>2026-H2</a:t>
                      </a:r>
                    </a:p>
                  </a:txBody>
                  <a:tcPr/>
                </a:tc>
                <a:tc>
                  <a:txBody>
                    <a:bodyPr/>
                    <a:lstStyle/>
                    <a:p>
                      <a:r>
                        <a:rPr sz="900"/>
                        <a:t>HBF NAND Die 样品交付 + $6B 回购开始执行</a:t>
                      </a:r>
                    </a:p>
                  </a:txBody>
                  <a:tcPr/>
                </a:tc>
                <a:tc>
                  <a:txBody>
                    <a:bodyPr/>
                    <a:lstStyle/>
                    <a:p>
                      <a:r>
                        <a:rPr sz="900"/>
                        <a:t>upcoming</a:t>
                      </a:r>
                    </a:p>
                  </a:txBody>
                  <a:tcPr/>
                </a:tc>
              </a:tr>
              <a:tr h="274320">
                <a:tc>
                  <a:txBody>
                    <a:bodyPr/>
                    <a:lstStyle/>
                    <a:p>
                      <a:r>
                        <a:rPr sz="900"/>
                        <a:t>2027</a:t>
                      </a:r>
                    </a:p>
                  </a:txBody>
                  <a:tcPr/>
                </a:tc>
                <a:tc>
                  <a:txBody>
                    <a:bodyPr/>
                    <a:lstStyle/>
                    <a:p>
                      <a:r>
                        <a:rPr sz="900"/>
                        <a:t>NVIDIA KVCache 需求开始贡献（+75–100 EB 增量）</a:t>
                      </a:r>
                    </a:p>
                  </a:txBody>
                  <a:tcPr/>
                </a:tc>
                <a:tc>
                  <a:txBody>
                    <a:bodyPr/>
                    <a:lstStyle/>
                    <a:p>
                      <a:r>
                        <a:rPr sz="900"/>
                        <a:t>pending</a:t>
                      </a:r>
                    </a:p>
                  </a:txBody>
                  <a:tcPr/>
                </a:tc>
              </a:tr>
              <a:tr h="274320">
                <a:tc>
                  <a:txBody>
                    <a:bodyPr/>
                    <a:lstStyle/>
                    <a:p>
                      <a:r>
                        <a:rPr sz="900"/>
                        <a:t>2028-H2</a:t>
                      </a:r>
                    </a:p>
                  </a:txBody>
                  <a:tcPr/>
                </a:tc>
                <a:tc>
                  <a:txBody>
                    <a:bodyPr/>
                    <a:lstStyle/>
                    <a:p>
                      <a:r>
                        <a:rPr sz="900"/>
                        <a:t>Micron 新加坡 NAND FAB 初始产出（供给端监控）</a:t>
                      </a:r>
                    </a:p>
                  </a:txBody>
                  <a:tcPr/>
                </a:tc>
                <a:tc>
                  <a:txBody>
                    <a:bodyPr/>
                    <a:lstStyle/>
                    <a:p>
                      <a:r>
                        <a:rPr sz="900"/>
                        <a:t>pending</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7. 风险与反向逻辑</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反向逻辑的单一最大变量：NAND 现货价格反转早于预期。</a:t>
            </a:r>
          </a:p>
          <a:p>
            <a:r>
              <a:rPr sz="1100"/>
              <a:t>• 若做多观点错，最可能的触发是 ASP 在历史高位（环比 +140% 为史上罕见）叠加需求降温或扩产而提前反转，先压制未签约部分的盈利；同时 NBM 长期固定定价成分可能约束现货极端上行的参与（盘后 -5~6% 已部分反映）。其他风险：(1) AI 资本开支大幅削减（概率 10–15%，影响高，监控超大规模 CapEx 指引与 NVIDIA 数据中心收入）；(2) 行业供给意外大幅扩张（概率 &lt;10%，监控 greenfield FAB 公告与行业 CapEx/Revenue…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8. 估值</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周期上行 + 模式重估，估值未充分定价。</a:t>
            </a:r>
          </a:p>
          <a:p>
            <a:r>
              <a:rPr sz="1100"/>
              <a:t>• 当前股价 $1,646.54 对应 forward P/E 9x、trailing P/E 56.18x、EV/Revenue 18.20x。卖方一致目标价均值 $1,843（区间 $1,000–3,250），Bernstein $1,700（11x 四年通周期 EPS）、MS $1,750（28x 通周期 EPS $62.50）、Citi $2,025。我们给予买入：核心在于 NBM 把周期峰值盈利的一部分转为多年可见合约收入，应享高于纯商品 NAND 同业的估值中枢；HB…</a:t>
            </a:r>
          </a:p>
          <a:p>
            <a:r>
              <a:rPr sz="1100"/>
              <a:t>• 来源：S&amp;P Capital IQ consensus（）。基于股价 $1,646.54、EV $240.3B。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8.1 估值多重（CapIQ consensus）</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Multiple</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20">
                <a:tc>
                  <a:txBody>
                    <a:bodyPr/>
                    <a:lstStyle/>
                    <a:p>
                      <a:r>
                        <a:rPr sz="900"/>
                        <a:t>P/E</a:t>
                      </a:r>
                    </a:p>
                  </a:txBody>
                  <a:tcPr/>
                </a:tc>
                <a:tc>
                  <a:txBody>
                    <a:bodyPr/>
                    <a:lstStyle/>
                    <a:p>
                      <a:r>
                        <a:rPr sz="900"/>
                        <a:t>25.1x</a:t>
                      </a:r>
                    </a:p>
                  </a:txBody>
                  <a:tcPr/>
                </a:tc>
                <a:tc>
                  <a:txBody>
                    <a:bodyPr/>
                    <a:lstStyle/>
                    <a:p>
                      <a:r>
                        <a:rPr sz="900"/>
                        <a:t>9.0x</a:t>
                      </a:r>
                    </a:p>
                  </a:txBody>
                  <a:tcPr/>
                </a:tc>
                <a:tc>
                  <a:txBody>
                    <a:bodyPr/>
                    <a:lstStyle/>
                    <a:p>
                      <a:r>
                        <a:rPr sz="900"/>
                        <a:t>8.7x</a:t>
                      </a:r>
                    </a:p>
                  </a:txBody>
                  <a:tcPr/>
                </a:tc>
              </a:tr>
              <a:tr h="274320">
                <a:tc>
                  <a:txBody>
                    <a:bodyPr/>
                    <a:lstStyle/>
                    <a:p>
                      <a:r>
                        <a:rPr sz="900"/>
                        <a:t>TEV/Revenue</a:t>
                      </a:r>
                    </a:p>
                  </a:txBody>
                  <a:tcPr/>
                </a:tc>
                <a:tc>
                  <a:txBody>
                    <a:bodyPr/>
                    <a:lstStyle/>
                    <a:p>
                      <a:r>
                        <a:rPr sz="900"/>
                        <a:t>12.2x</a:t>
                      </a:r>
                    </a:p>
                  </a:txBody>
                  <a:tcPr/>
                </a:tc>
                <a:tc>
                  <a:txBody>
                    <a:bodyPr/>
                    <a:lstStyle/>
                    <a:p>
                      <a:r>
                        <a:rPr sz="900"/>
                        <a:t>5.5x</a:t>
                      </a:r>
                    </a:p>
                  </a:txBody>
                  <a:tcPr/>
                </a:tc>
                <a:tc>
                  <a:txBody>
                    <a:bodyPr/>
                    <a:lstStyle/>
                    <a:p>
                      <a:r>
                        <a:rPr sz="900"/>
                        <a:t>5.2x</a:t>
                      </a:r>
                    </a:p>
                  </a:txBody>
                  <a:tcPr/>
                </a:tc>
              </a:tr>
              <a:tr h="274320">
                <a:tc>
                  <a:txBody>
                    <a:bodyPr/>
                    <a:lstStyle/>
                    <a:p>
                      <a:r>
                        <a:rPr sz="900"/>
                        <a:t>TEV/EBITDA</a:t>
                      </a:r>
                    </a:p>
                  </a:txBody>
                  <a:tcPr/>
                </a:tc>
                <a:tc>
                  <a:txBody>
                    <a:bodyPr/>
                    <a:lstStyle/>
                    <a:p>
                      <a:r>
                        <a:rPr sz="900"/>
                        <a:t>19.8x</a:t>
                      </a:r>
                    </a:p>
                  </a:txBody>
                  <a:tcPr/>
                </a:tc>
                <a:tc>
                  <a:txBody>
                    <a:bodyPr/>
                    <a:lstStyle/>
                    <a:p>
                      <a:r>
                        <a:rPr sz="900"/>
                        <a:t>7.0x</a:t>
                      </a:r>
                    </a:p>
                  </a:txBody>
                  <a:tcPr/>
                </a:tc>
                <a:tc>
                  <a:txBody>
                    <a:bodyPr/>
                    <a:lstStyle/>
                    <a:p>
                      <a:r>
                        <a:rPr sz="900"/>
                        <a:t>7.1x</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Company Description</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Sandisk Corporation</a:t>
            </a:r>
          </a:p>
          <a:p>
            <a:r>
              <a:rPr sz="1100"/>
              <a:t>• Sandisk Corporation（NASDAQ: SNDK）2025 年 2 月从 Western Digital 分拆，设计与销售 NAND Flash 存储产品，覆盖企业级 SSD、客户端 SSD 与消费存储，通过与 Kioxia 的日本合资企业运营 NAND 晶圆制造。BiCS8 CBA 技术、Stargate QLC 平台与 NBM 长协模式为其核心差异化。</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Analyst Certification</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I certify that all views expressed in this research report accurately reflect my personal views about the subject securities and companies, and that no part of my compensation was, is, or will be directly or indirectly related to the specif…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Explanation of Uninodue Ratings</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Buy - 预期未来 12 个月总回报 +15% 或以上。</a:t>
            </a:r>
          </a:p>
          <a:p>
            <a:r>
              <a:rPr sz="1100"/>
              <a:t>• Hold - 预期未来 12 个月总回报介于 +15% 与 -10% 之间。</a:t>
            </a:r>
          </a:p>
          <a:p>
            <a:r>
              <a:rPr sz="1100"/>
              <a:t>• Underperform - 预期未来 12 个月总回报 -10% 或以下。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